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Masters/slideMaster1.xml" ContentType="application/vnd.openxmlformats-officedocument.presentationml.slide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en-IN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lang="en-IN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C4FED019-F7CD-48D3-83BF-010C218A2311}" type="slidenum"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2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6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821DF64-DD54-4FCB-B691-CB33CD4D6AA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2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9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6DBDD6C-0A08-4034-92A5-A831516F49E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3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2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5F3311C-D894-42BD-B8A2-51D1C495A46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3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5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E424AF2-F8B2-4206-9023-61185DBCB56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3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8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41315AF-8B2E-48D9-BC9E-E3D8E7F9B9D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4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1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7BCBFB3-122E-42B8-AB89-D0FA7C8DB00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4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4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5FF8767-FB60-43EB-A975-E084D0D2026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4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7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21BCF34-6393-4118-A681-582F9C1EFA8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4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0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E4BA573-0C5A-46A5-B2D2-BFA4F78A888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5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3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0B6536C-400D-4F48-B6C0-666B24FFF83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5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6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81CE3BC-613A-4647-AABC-A47D0FBA631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5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9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87C56F8-FFB3-4009-B126-D028CF47D30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6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2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E4635AA-1B37-495B-AC78-915D4F24BAD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6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5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982F232-99BA-41D2-A837-510DEA714C8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IN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en-IN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IN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IN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IN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IN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IN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IN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IN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IN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IN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0"/>
          <p:cNvSpPr/>
          <p:nvPr/>
        </p:nvSpPr>
        <p:spPr>
          <a:xfrm>
            <a:off x="-2743200" y="-1828800"/>
            <a:ext cx="7314840" cy="7314840"/>
          </a:xfrm>
          <a:prstGeom prst="ellipse">
            <a:avLst/>
          </a:prstGeom>
          <a:solidFill>
            <a:srgbClr val="1E3A8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" name="Shape 1"/>
          <p:cNvSpPr/>
          <p:nvPr/>
        </p:nvSpPr>
        <p:spPr>
          <a:xfrm>
            <a:off x="9448560" y="4114800"/>
            <a:ext cx="6400440" cy="6400440"/>
          </a:xfrm>
          <a:prstGeom prst="ellipse">
            <a:avLst/>
          </a:prstGeom>
          <a:solidFill>
            <a:srgbClr val="0EA5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Shape 2"/>
          <p:cNvSpPr/>
          <p:nvPr/>
        </p:nvSpPr>
        <p:spPr>
          <a:xfrm>
            <a:off x="7314840" y="914400"/>
            <a:ext cx="2742840" cy="2742840"/>
          </a:xfrm>
          <a:prstGeom prst="ellipse">
            <a:avLst/>
          </a:prstGeom>
          <a:solidFill>
            <a:srgbClr val="06B6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Text 3"/>
          <p:cNvSpPr/>
          <p:nvPr/>
        </p:nvSpPr>
        <p:spPr>
          <a:xfrm>
            <a:off x="5272920" y="731520"/>
            <a:ext cx="1645560" cy="164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0" b="0" u="none" strike="noStrike">
                <a:solidFill>
                  <a:srgbClr val="3DA9FC"/>
                </a:solidFill>
                <a:effectLst/>
                <a:uFillTx/>
                <a:latin typeface="Calibri"/>
              </a:rPr>
              <a:t>🛡</a:t>
            </a:r>
            <a:endParaRPr lang="en-IN" sz="1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" name="Text 4"/>
          <p:cNvSpPr/>
          <p:nvPr/>
        </p:nvSpPr>
        <p:spPr>
          <a:xfrm>
            <a:off x="0" y="2468880"/>
            <a:ext cx="1219140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400" b="1" u="none" spc="601" strike="noStrike">
                <a:solidFill>
                  <a:srgbClr val="E6ECFF"/>
                </a:solidFill>
                <a:effectLst/>
                <a:uFillTx/>
                <a:latin typeface="Calibri"/>
                <a:ea typeface="Calibri"/>
              </a:rPr>
              <a:t>PII Detector &amp; Masker</a:t>
            </a:r>
            <a:endParaRPr lang="en-IN" sz="6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Text 5"/>
          <p:cNvSpPr/>
          <p:nvPr/>
        </p:nvSpPr>
        <p:spPr>
          <a:xfrm>
            <a:off x="0" y="3520440"/>
            <a:ext cx="121914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0" i="1" u="none" strike="noStrike">
                <a:solidFill>
                  <a:srgbClr val="00E0C6"/>
                </a:solidFill>
                <a:effectLst/>
                <a:uFillTx/>
                <a:latin typeface="Calibri"/>
                <a:ea typeface="Calibri"/>
              </a:rPr>
              <a:t>Hybrid AI Privacy Detection &amp; Masking Engine</a:t>
            </a:r>
            <a:endParaRPr lang="en-IN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" name="Text 6"/>
          <p:cNvSpPr/>
          <p:nvPr/>
        </p:nvSpPr>
        <p:spPr>
          <a:xfrm>
            <a:off x="0" y="4160520"/>
            <a:ext cx="121914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pc="799" strike="noStrike">
                <a:solidFill>
                  <a:srgbClr val="9AA7C7"/>
                </a:solidFill>
                <a:effectLst/>
                <a:uFillTx/>
                <a:latin typeface="Calibri"/>
                <a:ea typeface="Calibri"/>
              </a:rPr>
              <a:t>Detect • Mask • Report • Protect</a:t>
            </a: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" name="Shape 7"/>
          <p:cNvSpPr/>
          <p:nvPr/>
        </p:nvSpPr>
        <p:spPr>
          <a:xfrm>
            <a:off x="2460960" y="5029200"/>
            <a:ext cx="1645560" cy="639720"/>
          </a:xfrm>
          <a:prstGeom prst="roundRect">
            <a:avLst>
              <a:gd name="adj" fmla="val 50000"/>
            </a:avLst>
          </a:prstGeom>
          <a:solidFill>
            <a:srgbClr val="17223F"/>
          </a:solidFill>
          <a:ln w="12700">
            <a:solidFill>
              <a:srgbClr val="3DA9F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" name="Text 8"/>
          <p:cNvSpPr/>
          <p:nvPr/>
        </p:nvSpPr>
        <p:spPr>
          <a:xfrm>
            <a:off x="2460960" y="5029200"/>
            <a:ext cx="16455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E6ECFF"/>
                </a:solidFill>
                <a:effectLst/>
                <a:uFillTx/>
                <a:latin typeface="Calibri"/>
                <a:ea typeface="Calibri"/>
              </a:rPr>
              <a:t>Email</a:t>
            </a:r>
            <a:endParaRPr lang="en-IN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" name="Shape 9"/>
          <p:cNvSpPr/>
          <p:nvPr/>
        </p:nvSpPr>
        <p:spPr>
          <a:xfrm>
            <a:off x="4335480" y="5029200"/>
            <a:ext cx="1645560" cy="639720"/>
          </a:xfrm>
          <a:prstGeom prst="roundRect">
            <a:avLst>
              <a:gd name="adj" fmla="val 50000"/>
            </a:avLst>
          </a:prstGeom>
          <a:solidFill>
            <a:srgbClr val="17223F"/>
          </a:solidFill>
          <a:ln w="12700">
            <a:solidFill>
              <a:srgbClr val="3DA9F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" name="Text 10"/>
          <p:cNvSpPr/>
          <p:nvPr/>
        </p:nvSpPr>
        <p:spPr>
          <a:xfrm>
            <a:off x="4335480" y="5029200"/>
            <a:ext cx="16455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E6ECFF"/>
                </a:solidFill>
                <a:effectLst/>
                <a:uFillTx/>
                <a:latin typeface="Calibri"/>
                <a:ea typeface="Calibri"/>
              </a:rPr>
              <a:t>Phone</a:t>
            </a:r>
            <a:endParaRPr lang="en-IN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" name="Shape 11"/>
          <p:cNvSpPr/>
          <p:nvPr/>
        </p:nvSpPr>
        <p:spPr>
          <a:xfrm>
            <a:off x="6210000" y="5029200"/>
            <a:ext cx="1645560" cy="639720"/>
          </a:xfrm>
          <a:prstGeom prst="roundRect">
            <a:avLst>
              <a:gd name="adj" fmla="val 50000"/>
            </a:avLst>
          </a:prstGeom>
          <a:solidFill>
            <a:srgbClr val="17223F"/>
          </a:solidFill>
          <a:ln w="12700">
            <a:solidFill>
              <a:srgbClr val="3DA9F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" name="Text 12"/>
          <p:cNvSpPr/>
          <p:nvPr/>
        </p:nvSpPr>
        <p:spPr>
          <a:xfrm>
            <a:off x="6210000" y="5029200"/>
            <a:ext cx="16455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E6ECFF"/>
                </a:solidFill>
                <a:effectLst/>
                <a:uFillTx/>
                <a:latin typeface="Calibri"/>
                <a:ea typeface="Calibri"/>
              </a:rPr>
              <a:t>PAN</a:t>
            </a:r>
            <a:endParaRPr lang="en-IN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" name="Shape 13"/>
          <p:cNvSpPr/>
          <p:nvPr/>
        </p:nvSpPr>
        <p:spPr>
          <a:xfrm>
            <a:off x="8084520" y="5029200"/>
            <a:ext cx="1645560" cy="639720"/>
          </a:xfrm>
          <a:prstGeom prst="roundRect">
            <a:avLst>
              <a:gd name="adj" fmla="val 50000"/>
            </a:avLst>
          </a:prstGeom>
          <a:solidFill>
            <a:srgbClr val="17223F"/>
          </a:solidFill>
          <a:ln w="12700">
            <a:solidFill>
              <a:srgbClr val="3DA9F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" name="Text 14"/>
          <p:cNvSpPr/>
          <p:nvPr/>
        </p:nvSpPr>
        <p:spPr>
          <a:xfrm>
            <a:off x="8084520" y="5029200"/>
            <a:ext cx="16455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E6ECFF"/>
                </a:solidFill>
                <a:effectLst/>
                <a:uFillTx/>
                <a:latin typeface="Calibri"/>
                <a:ea typeface="Calibri"/>
              </a:rPr>
              <a:t>Aadhaar</a:t>
            </a:r>
            <a:endParaRPr lang="en-IN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" name="Text 15"/>
          <p:cNvSpPr/>
          <p:nvPr/>
        </p:nvSpPr>
        <p:spPr>
          <a:xfrm>
            <a:off x="0" y="6309360"/>
            <a:ext cx="12191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9AA7C7"/>
                </a:solidFill>
                <a:effectLst/>
                <a:uFillTx/>
                <a:latin typeface="Calibri"/>
                <a:ea typeface="Calibri"/>
              </a:rPr>
              <a:t>Presented by Team PII Shield  |  2026</a:t>
            </a:r>
            <a:endParaRPr lang="en-IN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hape 0"/>
          <p:cNvSpPr/>
          <p:nvPr/>
        </p:nvSpPr>
        <p:spPr>
          <a:xfrm>
            <a:off x="0" y="0"/>
            <a:ext cx="12191400" cy="72720"/>
          </a:xfrm>
          <a:prstGeom prst="rect">
            <a:avLst/>
          </a:prstGeom>
          <a:solidFill>
            <a:srgbClr val="3DA9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8080" rIns="90000" bIns="2808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Shape 1"/>
          <p:cNvSpPr/>
          <p:nvPr/>
        </p:nvSpPr>
        <p:spPr>
          <a:xfrm>
            <a:off x="0" y="73080"/>
            <a:ext cx="4266720" cy="36360"/>
          </a:xfrm>
          <a:prstGeom prst="rect">
            <a:avLst/>
          </a:prstGeom>
          <a:solidFill>
            <a:srgbClr val="00E0C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8280" rIns="90000" bIns="-828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Text 2"/>
          <p:cNvSpPr/>
          <p:nvPr/>
        </p:nvSpPr>
        <p:spPr>
          <a:xfrm>
            <a:off x="548640" y="411480"/>
            <a:ext cx="9143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pc="400" strike="noStrike">
                <a:solidFill>
                  <a:srgbClr val="00E0C6"/>
                </a:solidFill>
                <a:effectLst/>
                <a:uFillTx/>
                <a:latin typeface="Calibri"/>
                <a:ea typeface="Calibri"/>
              </a:rPr>
              <a:t>INTRODUCTION</a:t>
            </a:r>
            <a:endParaRPr lang="en-IN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" name="Text 3"/>
          <p:cNvSpPr/>
          <p:nvPr/>
        </p:nvSpPr>
        <p:spPr>
          <a:xfrm>
            <a:off x="548640" y="777240"/>
            <a:ext cx="109724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400" b="1" u="none" strike="noStrike">
                <a:solidFill>
                  <a:srgbClr val="E6ECFF"/>
                </a:solidFill>
                <a:effectLst/>
                <a:uFillTx/>
                <a:latin typeface="Calibri"/>
                <a:ea typeface="Calibri"/>
              </a:rPr>
              <a:t>Why Protecting PII Matters</a:t>
            </a:r>
            <a:endParaRPr lang="en-IN" sz="3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" name="Shape 4"/>
          <p:cNvSpPr/>
          <p:nvPr/>
        </p:nvSpPr>
        <p:spPr>
          <a:xfrm>
            <a:off x="548640" y="1627560"/>
            <a:ext cx="1096920" cy="54360"/>
          </a:xfrm>
          <a:prstGeom prst="rect">
            <a:avLst/>
          </a:prstGeom>
          <a:solidFill>
            <a:srgbClr val="3DA9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9720" rIns="90000" bIns="972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Text 5"/>
          <p:cNvSpPr/>
          <p:nvPr/>
        </p:nvSpPr>
        <p:spPr>
          <a:xfrm>
            <a:off x="548640" y="1920240"/>
            <a:ext cx="6583320" cy="320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spcAft>
                <a:spcPts val="799"/>
              </a:spcAft>
              <a:tabLst>
                <a:tab pos="0" algn="l"/>
              </a:tabLst>
            </a:pPr>
            <a:r>
              <a:rPr lang="en-US" sz="1800" b="0" u="none" strike="noStrike">
                <a:solidFill>
                  <a:srgbClr val="E6ECFF"/>
                </a:solidFill>
                <a:effectLst/>
                <a:uFillTx/>
                <a:latin typeface="Calibri"/>
                <a:ea typeface="Calibri"/>
              </a:rPr>
              <a:t>Personally Identifiable Information (PII) — such as Email IDs, Phone Numbers, PAN, and Aadhaar — is often hidden inside everyday datasets. Sharing such data without protection leads to privacy breaches, security incidents, and regulatory penalties.</a:t>
            </a: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799"/>
              </a:spcAft>
              <a:tabLst>
                <a:tab pos="0" algn="l"/>
              </a:tabLst>
            </a:pP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799"/>
              </a:spcAft>
              <a:tabLst>
                <a:tab pos="0" algn="l"/>
              </a:tabLst>
            </a:pPr>
            <a:r>
              <a:rPr lang="en-US" sz="1800" b="0" u="none" strike="noStrike">
                <a:solidFill>
                  <a:srgbClr val="E6ECFF"/>
                </a:solidFill>
                <a:effectLst/>
                <a:uFillTx/>
                <a:latin typeface="Calibri"/>
                <a:ea typeface="Calibri"/>
              </a:rPr>
              <a:t>We built an AI-assisted solution that automatically detects and masks sensitive information before data is shared.</a:t>
            </a: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" name="Shape 6"/>
          <p:cNvSpPr/>
          <p:nvPr/>
        </p:nvSpPr>
        <p:spPr>
          <a:xfrm>
            <a:off x="7498080" y="1920240"/>
            <a:ext cx="4205880" cy="959760"/>
          </a:xfrm>
          <a:prstGeom prst="roundRect">
            <a:avLst>
              <a:gd name="adj" fmla="val 11429"/>
            </a:avLst>
          </a:prstGeom>
          <a:solidFill>
            <a:srgbClr val="17223F"/>
          </a:solidFill>
          <a:ln w="12700">
            <a:solidFill>
              <a:srgbClr val="2A35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" name="Text 7"/>
          <p:cNvSpPr/>
          <p:nvPr/>
        </p:nvSpPr>
        <p:spPr>
          <a:xfrm>
            <a:off x="7680960" y="2011680"/>
            <a:ext cx="182844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400" b="1" u="none" strike="noStrike">
                <a:solidFill>
                  <a:srgbClr val="00E0C6"/>
                </a:solidFill>
                <a:effectLst/>
                <a:uFillTx/>
                <a:latin typeface="Calibri"/>
                <a:ea typeface="Calibri"/>
              </a:rPr>
              <a:t>80%</a:t>
            </a:r>
            <a:endParaRPr lang="en-IN" sz="3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" name="Text 8"/>
          <p:cNvSpPr/>
          <p:nvPr/>
        </p:nvSpPr>
        <p:spPr>
          <a:xfrm>
            <a:off x="9418320" y="2011680"/>
            <a:ext cx="219420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E6ECFF"/>
                </a:solidFill>
                <a:effectLst/>
                <a:uFillTx/>
                <a:latin typeface="Calibri"/>
                <a:ea typeface="Calibri"/>
              </a:rPr>
              <a:t>of data leaks involve PII</a:t>
            </a:r>
            <a:endParaRPr lang="en-IN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" name="Shape 9"/>
          <p:cNvSpPr/>
          <p:nvPr/>
        </p:nvSpPr>
        <p:spPr>
          <a:xfrm>
            <a:off x="7498080" y="3063240"/>
            <a:ext cx="4205880" cy="959760"/>
          </a:xfrm>
          <a:prstGeom prst="roundRect">
            <a:avLst>
              <a:gd name="adj" fmla="val 11429"/>
            </a:avLst>
          </a:prstGeom>
          <a:solidFill>
            <a:srgbClr val="17223F"/>
          </a:solidFill>
          <a:ln w="12700">
            <a:solidFill>
              <a:srgbClr val="2A35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" name="Text 10"/>
          <p:cNvSpPr/>
          <p:nvPr/>
        </p:nvSpPr>
        <p:spPr>
          <a:xfrm>
            <a:off x="7680960" y="3154680"/>
            <a:ext cx="182844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400" b="1" u="none" strike="noStrike">
                <a:solidFill>
                  <a:srgbClr val="00E0C6"/>
                </a:solidFill>
                <a:effectLst/>
                <a:uFillTx/>
                <a:latin typeface="Calibri"/>
                <a:ea typeface="Calibri"/>
              </a:rPr>
              <a:t>4</a:t>
            </a:r>
            <a:endParaRPr lang="en-IN" sz="3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" name="Text 11"/>
          <p:cNvSpPr/>
          <p:nvPr/>
        </p:nvSpPr>
        <p:spPr>
          <a:xfrm>
            <a:off x="9418320" y="3154680"/>
            <a:ext cx="219420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E6ECFF"/>
                </a:solidFill>
                <a:effectLst/>
                <a:uFillTx/>
                <a:latin typeface="Calibri"/>
                <a:ea typeface="Calibri"/>
              </a:rPr>
              <a:t>PII types detected</a:t>
            </a:r>
            <a:endParaRPr lang="en-IN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" name="Shape 12"/>
          <p:cNvSpPr/>
          <p:nvPr/>
        </p:nvSpPr>
        <p:spPr>
          <a:xfrm>
            <a:off x="7498080" y="4206240"/>
            <a:ext cx="4205880" cy="959760"/>
          </a:xfrm>
          <a:prstGeom prst="roundRect">
            <a:avLst>
              <a:gd name="adj" fmla="val 11429"/>
            </a:avLst>
          </a:prstGeom>
          <a:solidFill>
            <a:srgbClr val="17223F"/>
          </a:solidFill>
          <a:ln w="12700">
            <a:solidFill>
              <a:srgbClr val="2A35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" name="Text 13"/>
          <p:cNvSpPr/>
          <p:nvPr/>
        </p:nvSpPr>
        <p:spPr>
          <a:xfrm>
            <a:off x="7680960" y="4297680"/>
            <a:ext cx="182844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400" b="1" u="none" strike="noStrike">
                <a:solidFill>
                  <a:srgbClr val="00E0C6"/>
                </a:solidFill>
                <a:effectLst/>
                <a:uFillTx/>
                <a:latin typeface="Calibri"/>
                <a:ea typeface="Calibri"/>
              </a:rPr>
              <a:t>AI+Regex</a:t>
            </a:r>
            <a:endParaRPr lang="en-IN" sz="3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" name="Text 14"/>
          <p:cNvSpPr/>
          <p:nvPr/>
        </p:nvSpPr>
        <p:spPr>
          <a:xfrm>
            <a:off x="9418320" y="4297680"/>
            <a:ext cx="219420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E6ECFF"/>
                </a:solidFill>
                <a:effectLst/>
                <a:uFillTx/>
                <a:latin typeface="Calibri"/>
                <a:ea typeface="Calibri"/>
              </a:rPr>
              <a:t>Hybrid detection layer</a:t>
            </a:r>
            <a:endParaRPr lang="en-IN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" name="Text 15"/>
          <p:cNvSpPr/>
          <p:nvPr/>
        </p:nvSpPr>
        <p:spPr>
          <a:xfrm>
            <a:off x="365760" y="649224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9AA7C7"/>
                </a:solidFill>
                <a:effectLst/>
                <a:uFillTx/>
                <a:latin typeface="Calibri"/>
                <a:ea typeface="Calibri"/>
              </a:rPr>
              <a:t>PII Shield AI  •  Hybrid AI Privacy Detection Engine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" name="Text 16"/>
          <p:cNvSpPr/>
          <p:nvPr/>
        </p:nvSpPr>
        <p:spPr>
          <a:xfrm>
            <a:off x="11094480" y="6492240"/>
            <a:ext cx="731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9AA7C7"/>
                </a:solidFill>
                <a:effectLst/>
                <a:uFillTx/>
                <a:latin typeface="Calibri"/>
                <a:ea typeface="Calibri"/>
              </a:rPr>
              <a:t>1 / 14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Shape 0"/>
          <p:cNvSpPr/>
          <p:nvPr/>
        </p:nvSpPr>
        <p:spPr>
          <a:xfrm>
            <a:off x="0" y="0"/>
            <a:ext cx="12191400" cy="72720"/>
          </a:xfrm>
          <a:prstGeom prst="rect">
            <a:avLst/>
          </a:prstGeom>
          <a:solidFill>
            <a:srgbClr val="3DA9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8080" rIns="90000" bIns="2808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Shape 1"/>
          <p:cNvSpPr/>
          <p:nvPr/>
        </p:nvSpPr>
        <p:spPr>
          <a:xfrm>
            <a:off x="0" y="73080"/>
            <a:ext cx="4266720" cy="36360"/>
          </a:xfrm>
          <a:prstGeom prst="rect">
            <a:avLst/>
          </a:prstGeom>
          <a:solidFill>
            <a:srgbClr val="00E0C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8280" rIns="90000" bIns="-828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2"/>
          <p:cNvSpPr/>
          <p:nvPr/>
        </p:nvSpPr>
        <p:spPr>
          <a:xfrm>
            <a:off x="548640" y="411480"/>
            <a:ext cx="9143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pc="400" strike="noStrike">
                <a:solidFill>
                  <a:srgbClr val="00E0C6"/>
                </a:solidFill>
                <a:effectLst/>
                <a:uFillTx/>
                <a:latin typeface="Calibri"/>
                <a:ea typeface="Calibri"/>
              </a:rPr>
              <a:t>PROBLEM STATEMENT</a:t>
            </a:r>
            <a:endParaRPr lang="en-IN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" name="Text 3"/>
          <p:cNvSpPr/>
          <p:nvPr/>
        </p:nvSpPr>
        <p:spPr>
          <a:xfrm>
            <a:off x="548640" y="777240"/>
            <a:ext cx="109724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400" b="1" u="none" strike="noStrike">
                <a:solidFill>
                  <a:srgbClr val="E6ECFF"/>
                </a:solidFill>
                <a:effectLst/>
                <a:uFillTx/>
                <a:latin typeface="Calibri"/>
                <a:ea typeface="Calibri"/>
              </a:rPr>
              <a:t>The Risk Inside Every Dataset</a:t>
            </a:r>
            <a:endParaRPr lang="en-IN" sz="3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" name="Shape 4"/>
          <p:cNvSpPr/>
          <p:nvPr/>
        </p:nvSpPr>
        <p:spPr>
          <a:xfrm>
            <a:off x="548640" y="1627560"/>
            <a:ext cx="1096920" cy="54360"/>
          </a:xfrm>
          <a:prstGeom prst="rect">
            <a:avLst/>
          </a:prstGeom>
          <a:solidFill>
            <a:srgbClr val="3DA9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9720" rIns="90000" bIns="972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Shape 5"/>
          <p:cNvSpPr/>
          <p:nvPr/>
        </p:nvSpPr>
        <p:spPr>
          <a:xfrm>
            <a:off x="548640" y="1874520"/>
            <a:ext cx="5668920" cy="1234080"/>
          </a:xfrm>
          <a:prstGeom prst="roundRect">
            <a:avLst>
              <a:gd name="adj" fmla="val 8889"/>
            </a:avLst>
          </a:prstGeom>
          <a:solidFill>
            <a:srgbClr val="17223F"/>
          </a:solidFill>
          <a:ln w="12700">
            <a:solidFill>
              <a:srgbClr val="2A35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" name="Shape 6"/>
          <p:cNvSpPr/>
          <p:nvPr/>
        </p:nvSpPr>
        <p:spPr>
          <a:xfrm>
            <a:off x="777240" y="2194560"/>
            <a:ext cx="594000" cy="594000"/>
          </a:xfrm>
          <a:prstGeom prst="ellipse">
            <a:avLst/>
          </a:prstGeom>
          <a:solidFill>
            <a:srgbClr val="3DA9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Text 7"/>
          <p:cNvSpPr/>
          <p:nvPr/>
        </p:nvSpPr>
        <p:spPr>
          <a:xfrm>
            <a:off x="777240" y="2194560"/>
            <a:ext cx="59400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1</a:t>
            </a:r>
            <a:endParaRPr lang="en-IN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" name="Text 8"/>
          <p:cNvSpPr/>
          <p:nvPr/>
        </p:nvSpPr>
        <p:spPr>
          <a:xfrm>
            <a:off x="1554480" y="2039040"/>
            <a:ext cx="4571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E6ECFF"/>
                </a:solidFill>
                <a:effectLst/>
                <a:uFillTx/>
                <a:latin typeface="Calibri"/>
                <a:ea typeface="Calibri"/>
              </a:rPr>
              <a:t>Sensitive Data Everywhere</a:t>
            </a:r>
            <a:endParaRPr lang="en-IN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" name="Text 9"/>
          <p:cNvSpPr/>
          <p:nvPr/>
        </p:nvSpPr>
        <p:spPr>
          <a:xfrm>
            <a:off x="1554480" y="2423160"/>
            <a:ext cx="45716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9AA7C7"/>
                </a:solidFill>
                <a:effectLst/>
                <a:uFillTx/>
                <a:latin typeface="Calibri"/>
                <a:ea typeface="Calibri"/>
              </a:rPr>
              <a:t>Datasets routinely contain emails, phone numbers, and government IDs.</a:t>
            </a:r>
            <a:endParaRPr lang="en-IN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" name="Shape 10"/>
          <p:cNvSpPr/>
          <p:nvPr/>
        </p:nvSpPr>
        <p:spPr>
          <a:xfrm>
            <a:off x="548640" y="3291840"/>
            <a:ext cx="5668920" cy="1234080"/>
          </a:xfrm>
          <a:prstGeom prst="roundRect">
            <a:avLst>
              <a:gd name="adj" fmla="val 8889"/>
            </a:avLst>
          </a:prstGeom>
          <a:solidFill>
            <a:srgbClr val="17223F"/>
          </a:solidFill>
          <a:ln w="12700">
            <a:solidFill>
              <a:srgbClr val="2A35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" name="Shape 11"/>
          <p:cNvSpPr/>
          <p:nvPr/>
        </p:nvSpPr>
        <p:spPr>
          <a:xfrm>
            <a:off x="777240" y="3611880"/>
            <a:ext cx="594000" cy="594000"/>
          </a:xfrm>
          <a:prstGeom prst="ellipse">
            <a:avLst/>
          </a:prstGeom>
          <a:solidFill>
            <a:srgbClr val="3DA9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Text 12"/>
          <p:cNvSpPr/>
          <p:nvPr/>
        </p:nvSpPr>
        <p:spPr>
          <a:xfrm>
            <a:off x="777240" y="3611880"/>
            <a:ext cx="59400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2</a:t>
            </a:r>
            <a:endParaRPr lang="en-IN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" name="Text 13"/>
          <p:cNvSpPr/>
          <p:nvPr/>
        </p:nvSpPr>
        <p:spPr>
          <a:xfrm>
            <a:off x="1554480" y="3456360"/>
            <a:ext cx="4571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E6ECFF"/>
                </a:solidFill>
                <a:effectLst/>
                <a:uFillTx/>
                <a:latin typeface="Calibri"/>
                <a:ea typeface="Calibri"/>
              </a:rPr>
              <a:t>Manual Review Fails</a:t>
            </a:r>
            <a:endParaRPr lang="en-IN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" name="Text 14"/>
          <p:cNvSpPr/>
          <p:nvPr/>
        </p:nvSpPr>
        <p:spPr>
          <a:xfrm>
            <a:off x="1554480" y="3840480"/>
            <a:ext cx="45716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9AA7C7"/>
                </a:solidFill>
                <a:effectLst/>
                <a:uFillTx/>
                <a:latin typeface="Calibri"/>
                <a:ea typeface="Calibri"/>
              </a:rPr>
              <a:t>Identifying PII by hand is slow, inconsistent, and unscalable.</a:t>
            </a:r>
            <a:endParaRPr lang="en-IN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" name="Shape 15"/>
          <p:cNvSpPr/>
          <p:nvPr/>
        </p:nvSpPr>
        <p:spPr>
          <a:xfrm>
            <a:off x="548640" y="4709160"/>
            <a:ext cx="5668920" cy="1234080"/>
          </a:xfrm>
          <a:prstGeom prst="roundRect">
            <a:avLst>
              <a:gd name="adj" fmla="val 8889"/>
            </a:avLst>
          </a:prstGeom>
          <a:solidFill>
            <a:srgbClr val="17223F"/>
          </a:solidFill>
          <a:ln w="12700">
            <a:solidFill>
              <a:srgbClr val="2A35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" name="Shape 16"/>
          <p:cNvSpPr/>
          <p:nvPr/>
        </p:nvSpPr>
        <p:spPr>
          <a:xfrm>
            <a:off x="777240" y="5029200"/>
            <a:ext cx="594000" cy="594000"/>
          </a:xfrm>
          <a:prstGeom prst="ellipse">
            <a:avLst/>
          </a:prstGeom>
          <a:solidFill>
            <a:srgbClr val="3DA9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Text 17"/>
          <p:cNvSpPr/>
          <p:nvPr/>
        </p:nvSpPr>
        <p:spPr>
          <a:xfrm>
            <a:off x="777240" y="5029200"/>
            <a:ext cx="59400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3</a:t>
            </a:r>
            <a:endParaRPr lang="en-IN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" name="Text 18"/>
          <p:cNvSpPr/>
          <p:nvPr/>
        </p:nvSpPr>
        <p:spPr>
          <a:xfrm>
            <a:off x="1554480" y="4873680"/>
            <a:ext cx="4571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E6ECFF"/>
                </a:solidFill>
                <a:effectLst/>
                <a:uFillTx/>
                <a:latin typeface="Calibri"/>
                <a:ea typeface="Calibri"/>
              </a:rPr>
              <a:t>Human Errors Cause Leaks</a:t>
            </a:r>
            <a:endParaRPr lang="en-IN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" name="Text 19"/>
          <p:cNvSpPr/>
          <p:nvPr/>
        </p:nvSpPr>
        <p:spPr>
          <a:xfrm>
            <a:off x="1554480" y="5257800"/>
            <a:ext cx="45716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9AA7C7"/>
                </a:solidFill>
                <a:effectLst/>
                <a:uFillTx/>
                <a:latin typeface="Calibri"/>
                <a:ea typeface="Calibri"/>
              </a:rPr>
              <a:t>A single missed field can trigger a privacy breach or compliance violation.</a:t>
            </a:r>
            <a:endParaRPr lang="en-IN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" name="Shape 20"/>
          <p:cNvSpPr/>
          <p:nvPr/>
        </p:nvSpPr>
        <p:spPr>
          <a:xfrm>
            <a:off x="6583680" y="1874520"/>
            <a:ext cx="5120280" cy="3977280"/>
          </a:xfrm>
          <a:prstGeom prst="roundRect">
            <a:avLst>
              <a:gd name="adj" fmla="val 2759"/>
            </a:avLst>
          </a:prstGeom>
          <a:solidFill>
            <a:srgbClr val="1A0F1F"/>
          </a:solidFill>
          <a:ln w="12700">
            <a:solidFill>
              <a:srgbClr val="EF44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" name="Text 21"/>
          <p:cNvSpPr/>
          <p:nvPr/>
        </p:nvSpPr>
        <p:spPr>
          <a:xfrm>
            <a:off x="6766560" y="2011680"/>
            <a:ext cx="47545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pc="300" strike="noStrike">
                <a:solidFill>
                  <a:srgbClr val="EF4444"/>
                </a:solidFill>
                <a:effectLst/>
                <a:uFillTx/>
                <a:latin typeface="Calibri"/>
              </a:rPr>
              <a:t>⚠  IF SHARED PUBLICLY</a:t>
            </a:r>
            <a:endParaRPr lang="en-IN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" name="Text 22"/>
          <p:cNvSpPr/>
          <p:nvPr/>
        </p:nvSpPr>
        <p:spPr>
          <a:xfrm>
            <a:off x="6766560" y="2423160"/>
            <a:ext cx="47545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9AA7C7"/>
                </a:solidFill>
                <a:effectLst/>
                <a:uFillTx/>
                <a:latin typeface="Calibri"/>
              </a:rPr>
              <a:t>Plain text example:</a:t>
            </a:r>
            <a:endParaRPr lang="en-IN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" name="Shape 23"/>
          <p:cNvSpPr/>
          <p:nvPr/>
        </p:nvSpPr>
        <p:spPr>
          <a:xfrm>
            <a:off x="6766560" y="2743200"/>
            <a:ext cx="4754520" cy="639720"/>
          </a:xfrm>
          <a:prstGeom prst="roundRect">
            <a:avLst>
              <a:gd name="adj" fmla="val 11429"/>
            </a:avLst>
          </a:prstGeom>
          <a:solidFill>
            <a:srgbClr val="000814"/>
          </a:solidFill>
          <a:ln w="12700">
            <a:solidFill>
              <a:srgbClr val="2A35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" name="Text 24"/>
          <p:cNvSpPr/>
          <p:nvPr/>
        </p:nvSpPr>
        <p:spPr>
          <a:xfrm>
            <a:off x="6858000" y="2788920"/>
            <a:ext cx="45716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00E0C6"/>
                </a:solidFill>
                <a:effectLst/>
                <a:uFillTx/>
                <a:latin typeface="Consolas"/>
                <a:ea typeface="Consolas"/>
              </a:rPr>
              <a:t>Rahul, rahul@gmail.com, 9876543210</a:t>
            </a:r>
            <a:endParaRPr lang="en-IN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" name="Text 25"/>
          <p:cNvSpPr/>
          <p:nvPr/>
        </p:nvSpPr>
        <p:spPr>
          <a:xfrm>
            <a:off x="6766560" y="3657600"/>
            <a:ext cx="47545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E6ECFF"/>
                </a:solidFill>
                <a:effectLst/>
                <a:uFillTx/>
                <a:latin typeface="Calibri"/>
                <a:ea typeface="Calibri"/>
              </a:rPr>
              <a:t>●  Privacy Violation</a:t>
            </a:r>
            <a:endParaRPr lang="en-IN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" name="Text 26"/>
          <p:cNvSpPr/>
          <p:nvPr/>
        </p:nvSpPr>
        <p:spPr>
          <a:xfrm>
            <a:off x="6766560" y="4160520"/>
            <a:ext cx="47545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E6ECFF"/>
                </a:solidFill>
                <a:effectLst/>
                <a:uFillTx/>
                <a:latin typeface="Calibri"/>
                <a:ea typeface="Calibri"/>
              </a:rPr>
              <a:t>●  Identity Theft</a:t>
            </a:r>
            <a:endParaRPr lang="en-IN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" name="Text 27"/>
          <p:cNvSpPr/>
          <p:nvPr/>
        </p:nvSpPr>
        <p:spPr>
          <a:xfrm>
            <a:off x="6766560" y="4663440"/>
            <a:ext cx="47545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E6ECFF"/>
                </a:solidFill>
                <a:effectLst/>
                <a:uFillTx/>
                <a:latin typeface="Calibri"/>
                <a:ea typeface="Calibri"/>
              </a:rPr>
              <a:t>●  Regulatory Penalty (GDPR, DPDP)</a:t>
            </a:r>
            <a:endParaRPr lang="en-IN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" name="Text 28"/>
          <p:cNvSpPr/>
          <p:nvPr/>
        </p:nvSpPr>
        <p:spPr>
          <a:xfrm>
            <a:off x="365760" y="649224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9AA7C7"/>
                </a:solidFill>
                <a:effectLst/>
                <a:uFillTx/>
                <a:latin typeface="Calibri"/>
                <a:ea typeface="Calibri"/>
              </a:rPr>
              <a:t>PII Shield AI  •  Hybrid AI Privacy Detection Engine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" name="Text 29"/>
          <p:cNvSpPr/>
          <p:nvPr/>
        </p:nvSpPr>
        <p:spPr>
          <a:xfrm>
            <a:off x="11094480" y="6492240"/>
            <a:ext cx="731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9AA7C7"/>
                </a:solidFill>
                <a:effectLst/>
                <a:uFillTx/>
                <a:latin typeface="Calibri"/>
                <a:ea typeface="Calibri"/>
              </a:rPr>
              <a:t>2 / 14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Shape 0"/>
          <p:cNvSpPr/>
          <p:nvPr/>
        </p:nvSpPr>
        <p:spPr>
          <a:xfrm>
            <a:off x="0" y="0"/>
            <a:ext cx="12191400" cy="72720"/>
          </a:xfrm>
          <a:prstGeom prst="rect">
            <a:avLst/>
          </a:prstGeom>
          <a:solidFill>
            <a:srgbClr val="3DA9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8080" rIns="90000" bIns="2808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Shape 1"/>
          <p:cNvSpPr/>
          <p:nvPr/>
        </p:nvSpPr>
        <p:spPr>
          <a:xfrm>
            <a:off x="0" y="73080"/>
            <a:ext cx="4266720" cy="36360"/>
          </a:xfrm>
          <a:prstGeom prst="rect">
            <a:avLst/>
          </a:prstGeom>
          <a:solidFill>
            <a:srgbClr val="00E0C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8280" rIns="90000" bIns="-828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Text 2"/>
          <p:cNvSpPr/>
          <p:nvPr/>
        </p:nvSpPr>
        <p:spPr>
          <a:xfrm>
            <a:off x="548640" y="411480"/>
            <a:ext cx="9143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pc="400" strike="noStrike">
                <a:solidFill>
                  <a:srgbClr val="00E0C6"/>
                </a:solidFill>
                <a:effectLst/>
                <a:uFillTx/>
                <a:latin typeface="Calibri"/>
                <a:ea typeface="Calibri"/>
              </a:rPr>
              <a:t>PROJECT OBJECTIVE</a:t>
            </a:r>
            <a:endParaRPr lang="en-IN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" name="Text 3"/>
          <p:cNvSpPr/>
          <p:nvPr/>
        </p:nvSpPr>
        <p:spPr>
          <a:xfrm>
            <a:off x="548640" y="777240"/>
            <a:ext cx="109724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400" b="1" u="none" strike="noStrike">
                <a:solidFill>
                  <a:srgbClr val="E6ECFF"/>
                </a:solidFill>
                <a:effectLst/>
                <a:uFillTx/>
                <a:latin typeface="Calibri"/>
                <a:ea typeface="Calibri"/>
              </a:rPr>
              <a:t>What Our System Delivers</a:t>
            </a:r>
            <a:endParaRPr lang="en-IN" sz="3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" name="Shape 4"/>
          <p:cNvSpPr/>
          <p:nvPr/>
        </p:nvSpPr>
        <p:spPr>
          <a:xfrm>
            <a:off x="548640" y="1627560"/>
            <a:ext cx="1096920" cy="54360"/>
          </a:xfrm>
          <a:prstGeom prst="rect">
            <a:avLst/>
          </a:prstGeom>
          <a:solidFill>
            <a:srgbClr val="3DA9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9720" rIns="90000" bIns="972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Shape 5"/>
          <p:cNvSpPr/>
          <p:nvPr/>
        </p:nvSpPr>
        <p:spPr>
          <a:xfrm>
            <a:off x="380880" y="1920240"/>
            <a:ext cx="3657240" cy="1691280"/>
          </a:xfrm>
          <a:prstGeom prst="roundRect">
            <a:avLst>
              <a:gd name="adj" fmla="val 6486"/>
            </a:avLst>
          </a:prstGeom>
          <a:solidFill>
            <a:srgbClr val="17223F"/>
          </a:solidFill>
          <a:ln w="12700">
            <a:solidFill>
              <a:srgbClr val="2A35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" name="Text 6"/>
          <p:cNvSpPr/>
          <p:nvPr/>
        </p:nvSpPr>
        <p:spPr>
          <a:xfrm>
            <a:off x="563760" y="2148840"/>
            <a:ext cx="7311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🔍</a:t>
            </a:r>
            <a:endParaRPr lang="en-IN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" name="Text 7"/>
          <p:cNvSpPr/>
          <p:nvPr/>
        </p:nvSpPr>
        <p:spPr>
          <a:xfrm>
            <a:off x="1341000" y="2148840"/>
            <a:ext cx="25599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E6ECFF"/>
                </a:solidFill>
                <a:effectLst/>
                <a:uFillTx/>
                <a:latin typeface="Calibri"/>
                <a:ea typeface="Calibri"/>
              </a:rPr>
              <a:t>Detects PII</a:t>
            </a:r>
            <a:endParaRPr lang="en-IN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" name="Text 8"/>
          <p:cNvSpPr/>
          <p:nvPr/>
        </p:nvSpPr>
        <p:spPr>
          <a:xfrm>
            <a:off x="1341000" y="2560320"/>
            <a:ext cx="255996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9AA7C7"/>
                </a:solidFill>
                <a:effectLst/>
                <a:uFillTx/>
                <a:latin typeface="Calibri"/>
                <a:ea typeface="Calibri"/>
              </a:rPr>
              <a:t>Identifies Emails, Phones, PAN, Aadhaar with hybrid AI+Regex.</a:t>
            </a:r>
            <a:endParaRPr lang="en-IN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" name="Shape 9"/>
          <p:cNvSpPr/>
          <p:nvPr/>
        </p:nvSpPr>
        <p:spPr>
          <a:xfrm>
            <a:off x="4267080" y="1920240"/>
            <a:ext cx="3657240" cy="1691280"/>
          </a:xfrm>
          <a:prstGeom prst="roundRect">
            <a:avLst>
              <a:gd name="adj" fmla="val 6486"/>
            </a:avLst>
          </a:prstGeom>
          <a:solidFill>
            <a:srgbClr val="17223F"/>
          </a:solidFill>
          <a:ln w="12700">
            <a:solidFill>
              <a:srgbClr val="2A35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" name="Text 10"/>
          <p:cNvSpPr/>
          <p:nvPr/>
        </p:nvSpPr>
        <p:spPr>
          <a:xfrm>
            <a:off x="4449960" y="2148840"/>
            <a:ext cx="7311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🛡</a:t>
            </a:r>
            <a:endParaRPr lang="en-IN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" name="Text 11"/>
          <p:cNvSpPr/>
          <p:nvPr/>
        </p:nvSpPr>
        <p:spPr>
          <a:xfrm>
            <a:off x="5227200" y="2148840"/>
            <a:ext cx="25599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E6ECFF"/>
                </a:solidFill>
                <a:effectLst/>
                <a:uFillTx/>
                <a:latin typeface="Calibri"/>
                <a:ea typeface="Calibri"/>
              </a:rPr>
              <a:t>Masks Sensitive Data</a:t>
            </a:r>
            <a:endParaRPr lang="en-IN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" name="Text 12"/>
          <p:cNvSpPr/>
          <p:nvPr/>
        </p:nvSpPr>
        <p:spPr>
          <a:xfrm>
            <a:off x="5227200" y="2560320"/>
            <a:ext cx="255996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9AA7C7"/>
                </a:solidFill>
                <a:effectLst/>
                <a:uFillTx/>
                <a:latin typeface="Calibri"/>
                <a:ea typeface="Calibri"/>
              </a:rPr>
              <a:t>Replaces values with safe, partially-redacted equivalents.</a:t>
            </a:r>
            <a:endParaRPr lang="en-IN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" name="Shape 13"/>
          <p:cNvSpPr/>
          <p:nvPr/>
        </p:nvSpPr>
        <p:spPr>
          <a:xfrm>
            <a:off x="8153280" y="1920240"/>
            <a:ext cx="3657240" cy="1691280"/>
          </a:xfrm>
          <a:prstGeom prst="roundRect">
            <a:avLst>
              <a:gd name="adj" fmla="val 6486"/>
            </a:avLst>
          </a:prstGeom>
          <a:solidFill>
            <a:srgbClr val="17223F"/>
          </a:solidFill>
          <a:ln w="12700">
            <a:solidFill>
              <a:srgbClr val="2A35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" name="Text 14"/>
          <p:cNvSpPr/>
          <p:nvPr/>
        </p:nvSpPr>
        <p:spPr>
          <a:xfrm>
            <a:off x="8336160" y="2148840"/>
            <a:ext cx="7311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📄</a:t>
            </a:r>
            <a:endParaRPr lang="en-IN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" name="Text 15"/>
          <p:cNvSpPr/>
          <p:nvPr/>
        </p:nvSpPr>
        <p:spPr>
          <a:xfrm>
            <a:off x="9113400" y="2148840"/>
            <a:ext cx="25599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E6ECFF"/>
                </a:solidFill>
                <a:effectLst/>
                <a:uFillTx/>
                <a:latin typeface="Calibri"/>
                <a:ea typeface="Calibri"/>
              </a:rPr>
              <a:t>Generates Reports</a:t>
            </a:r>
            <a:endParaRPr lang="en-IN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" name="Text 16"/>
          <p:cNvSpPr/>
          <p:nvPr/>
        </p:nvSpPr>
        <p:spPr>
          <a:xfrm>
            <a:off x="9113400" y="2560320"/>
            <a:ext cx="255996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9AA7C7"/>
                </a:solidFill>
                <a:effectLst/>
                <a:uFillTx/>
                <a:latin typeface="Calibri"/>
                <a:ea typeface="Calibri"/>
              </a:rPr>
              <a:t>Produces detailed JSON &amp; CSV reports of every detection.</a:t>
            </a:r>
            <a:endParaRPr lang="en-IN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" name="Shape 17"/>
          <p:cNvSpPr/>
          <p:nvPr/>
        </p:nvSpPr>
        <p:spPr>
          <a:xfrm>
            <a:off x="380880" y="3840480"/>
            <a:ext cx="3657240" cy="1691280"/>
          </a:xfrm>
          <a:prstGeom prst="roundRect">
            <a:avLst>
              <a:gd name="adj" fmla="val 6486"/>
            </a:avLst>
          </a:prstGeom>
          <a:solidFill>
            <a:srgbClr val="17223F"/>
          </a:solidFill>
          <a:ln w="12700">
            <a:solidFill>
              <a:srgbClr val="2A35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" name="Text 18"/>
          <p:cNvSpPr/>
          <p:nvPr/>
        </p:nvSpPr>
        <p:spPr>
          <a:xfrm>
            <a:off x="563760" y="4069080"/>
            <a:ext cx="7311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📊</a:t>
            </a:r>
            <a:endParaRPr lang="en-IN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" name="Text 19"/>
          <p:cNvSpPr/>
          <p:nvPr/>
        </p:nvSpPr>
        <p:spPr>
          <a:xfrm>
            <a:off x="1341000" y="4069080"/>
            <a:ext cx="25599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E6ECFF"/>
                </a:solidFill>
                <a:effectLst/>
                <a:uFillTx/>
                <a:latin typeface="Calibri"/>
                <a:ea typeface="Calibri"/>
              </a:rPr>
              <a:t>Displays Analytics</a:t>
            </a:r>
            <a:endParaRPr lang="en-IN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" name="Text 20"/>
          <p:cNvSpPr/>
          <p:nvPr/>
        </p:nvSpPr>
        <p:spPr>
          <a:xfrm>
            <a:off x="1341000" y="4480560"/>
            <a:ext cx="255996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9AA7C7"/>
                </a:solidFill>
                <a:effectLst/>
                <a:uFillTx/>
                <a:latin typeface="Calibri"/>
                <a:ea typeface="Calibri"/>
              </a:rPr>
              <a:t>Live dashboard with counts, charts, and compliance score.</a:t>
            </a:r>
            <a:endParaRPr lang="en-IN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" name="Shape 21"/>
          <p:cNvSpPr/>
          <p:nvPr/>
        </p:nvSpPr>
        <p:spPr>
          <a:xfrm>
            <a:off x="4267080" y="3840480"/>
            <a:ext cx="3657240" cy="1691280"/>
          </a:xfrm>
          <a:prstGeom prst="roundRect">
            <a:avLst>
              <a:gd name="adj" fmla="val 6486"/>
            </a:avLst>
          </a:prstGeom>
          <a:solidFill>
            <a:srgbClr val="17223F"/>
          </a:solidFill>
          <a:ln w="12700">
            <a:solidFill>
              <a:srgbClr val="2A35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" name="Text 22"/>
          <p:cNvSpPr/>
          <p:nvPr/>
        </p:nvSpPr>
        <p:spPr>
          <a:xfrm>
            <a:off x="4449960" y="4069080"/>
            <a:ext cx="7311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⬇</a:t>
            </a:r>
            <a:endParaRPr lang="en-IN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" name="Text 23"/>
          <p:cNvSpPr/>
          <p:nvPr/>
        </p:nvSpPr>
        <p:spPr>
          <a:xfrm>
            <a:off x="5227200" y="4069080"/>
            <a:ext cx="25599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E6ECFF"/>
                </a:solidFill>
                <a:effectLst/>
                <a:uFillTx/>
                <a:latin typeface="Calibri"/>
                <a:ea typeface="Calibri"/>
              </a:rPr>
              <a:t>Download Masked File</a:t>
            </a:r>
            <a:endParaRPr lang="en-IN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" name="Text 24"/>
          <p:cNvSpPr/>
          <p:nvPr/>
        </p:nvSpPr>
        <p:spPr>
          <a:xfrm>
            <a:off x="5227200" y="4480560"/>
            <a:ext cx="255996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9AA7C7"/>
                </a:solidFill>
                <a:effectLst/>
                <a:uFillTx/>
                <a:latin typeface="Calibri"/>
                <a:ea typeface="Calibri"/>
              </a:rPr>
              <a:t>Export sanitized CSV ready for safe sharing.</a:t>
            </a:r>
            <a:endParaRPr lang="en-IN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" name="Shape 25"/>
          <p:cNvSpPr/>
          <p:nvPr/>
        </p:nvSpPr>
        <p:spPr>
          <a:xfrm>
            <a:off x="8153280" y="3840480"/>
            <a:ext cx="3657240" cy="1691280"/>
          </a:xfrm>
          <a:prstGeom prst="roundRect">
            <a:avLst>
              <a:gd name="adj" fmla="val 6486"/>
            </a:avLst>
          </a:prstGeom>
          <a:solidFill>
            <a:srgbClr val="17223F"/>
          </a:solidFill>
          <a:ln w="12700">
            <a:solidFill>
              <a:srgbClr val="2A35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" name="Text 26"/>
          <p:cNvSpPr/>
          <p:nvPr/>
        </p:nvSpPr>
        <p:spPr>
          <a:xfrm>
            <a:off x="8336160" y="4069080"/>
            <a:ext cx="7311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⚙</a:t>
            </a:r>
            <a:endParaRPr lang="en-IN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 27"/>
          <p:cNvSpPr/>
          <p:nvPr/>
        </p:nvSpPr>
        <p:spPr>
          <a:xfrm>
            <a:off x="9113400" y="4069080"/>
            <a:ext cx="25599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E6ECFF"/>
                </a:solidFill>
                <a:effectLst/>
                <a:uFillTx/>
                <a:latin typeface="Calibri"/>
                <a:ea typeface="Calibri"/>
              </a:rPr>
              <a:t>Automated Tests</a:t>
            </a:r>
            <a:endParaRPr lang="en-IN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 28"/>
          <p:cNvSpPr/>
          <p:nvPr/>
        </p:nvSpPr>
        <p:spPr>
          <a:xfrm>
            <a:off x="9113400" y="4480560"/>
            <a:ext cx="255996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9AA7C7"/>
                </a:solidFill>
                <a:effectLst/>
                <a:uFillTx/>
                <a:latin typeface="Calibri"/>
                <a:ea typeface="Calibri"/>
              </a:rPr>
              <a:t>Pytest suite validates accuracy and reliability.</a:t>
            </a:r>
            <a:endParaRPr lang="en-IN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 29"/>
          <p:cNvSpPr/>
          <p:nvPr/>
        </p:nvSpPr>
        <p:spPr>
          <a:xfrm>
            <a:off x="365760" y="649224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9AA7C7"/>
                </a:solidFill>
                <a:effectLst/>
                <a:uFillTx/>
                <a:latin typeface="Calibri"/>
                <a:ea typeface="Calibri"/>
              </a:rPr>
              <a:t>PII Shield AI  •  Hybrid AI Privacy Detection Engine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 30"/>
          <p:cNvSpPr/>
          <p:nvPr/>
        </p:nvSpPr>
        <p:spPr>
          <a:xfrm>
            <a:off x="11094480" y="6492240"/>
            <a:ext cx="731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9AA7C7"/>
                </a:solidFill>
                <a:effectLst/>
                <a:uFillTx/>
                <a:latin typeface="Calibri"/>
                <a:ea typeface="Calibri"/>
              </a:rPr>
              <a:t>3 / 14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Shape 0"/>
          <p:cNvSpPr/>
          <p:nvPr/>
        </p:nvSpPr>
        <p:spPr>
          <a:xfrm>
            <a:off x="0" y="0"/>
            <a:ext cx="12191400" cy="72720"/>
          </a:xfrm>
          <a:prstGeom prst="rect">
            <a:avLst/>
          </a:prstGeom>
          <a:solidFill>
            <a:srgbClr val="3DA9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8080" rIns="90000" bIns="2808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Shape 1"/>
          <p:cNvSpPr/>
          <p:nvPr/>
        </p:nvSpPr>
        <p:spPr>
          <a:xfrm>
            <a:off x="0" y="73080"/>
            <a:ext cx="4266720" cy="36360"/>
          </a:xfrm>
          <a:prstGeom prst="rect">
            <a:avLst/>
          </a:prstGeom>
          <a:solidFill>
            <a:srgbClr val="00E0C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8280" rIns="90000" bIns="-828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 2"/>
          <p:cNvSpPr/>
          <p:nvPr/>
        </p:nvSpPr>
        <p:spPr>
          <a:xfrm>
            <a:off x="548640" y="411480"/>
            <a:ext cx="9143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pc="400" strike="noStrike">
                <a:solidFill>
                  <a:srgbClr val="00E0C6"/>
                </a:solidFill>
                <a:effectLst/>
                <a:uFillTx/>
                <a:latin typeface="Calibri"/>
                <a:ea typeface="Calibri"/>
              </a:rPr>
              <a:t>ARCHITECTURE OVERVIEW</a:t>
            </a:r>
            <a:endParaRPr lang="en-IN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 3"/>
          <p:cNvSpPr/>
          <p:nvPr/>
        </p:nvSpPr>
        <p:spPr>
          <a:xfrm>
            <a:off x="548640" y="777240"/>
            <a:ext cx="109724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400" b="1" u="none" strike="noStrike">
                <a:solidFill>
                  <a:srgbClr val="E6ECFF"/>
                </a:solidFill>
                <a:effectLst/>
                <a:uFillTx/>
                <a:latin typeface="Calibri"/>
                <a:ea typeface="Calibri"/>
              </a:rPr>
              <a:t>End-to-End Data Flow</a:t>
            </a:r>
            <a:endParaRPr lang="en-IN" sz="3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8" name="Shape 4"/>
          <p:cNvSpPr/>
          <p:nvPr/>
        </p:nvSpPr>
        <p:spPr>
          <a:xfrm>
            <a:off x="548640" y="1627560"/>
            <a:ext cx="1096920" cy="54360"/>
          </a:xfrm>
          <a:prstGeom prst="rect">
            <a:avLst/>
          </a:prstGeom>
          <a:solidFill>
            <a:srgbClr val="3DA9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9720" rIns="90000" bIns="972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Shape 5"/>
          <p:cNvSpPr/>
          <p:nvPr/>
        </p:nvSpPr>
        <p:spPr>
          <a:xfrm>
            <a:off x="632160" y="2103120"/>
            <a:ext cx="2559960" cy="1005480"/>
          </a:xfrm>
          <a:prstGeom prst="roundRect">
            <a:avLst>
              <a:gd name="adj" fmla="val 13636"/>
            </a:avLst>
          </a:prstGeom>
          <a:solidFill>
            <a:srgbClr val="17223F"/>
          </a:solidFill>
          <a:ln w="25400">
            <a:solidFill>
              <a:srgbClr val="3DA9F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0" name="Shape 6"/>
          <p:cNvSpPr/>
          <p:nvPr/>
        </p:nvSpPr>
        <p:spPr>
          <a:xfrm>
            <a:off x="815040" y="2404800"/>
            <a:ext cx="411120" cy="411120"/>
          </a:xfrm>
          <a:prstGeom prst="ellipse">
            <a:avLst/>
          </a:prstGeom>
          <a:solidFill>
            <a:srgbClr val="3DA9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 7"/>
          <p:cNvSpPr/>
          <p:nvPr/>
        </p:nvSpPr>
        <p:spPr>
          <a:xfrm>
            <a:off x="815040" y="2404800"/>
            <a:ext cx="4111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B1020"/>
                </a:solidFill>
                <a:effectLst/>
                <a:uFillTx/>
                <a:latin typeface="Calibri"/>
              </a:rPr>
              <a:t>1</a:t>
            </a:r>
            <a:endParaRPr lang="en-IN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 8"/>
          <p:cNvSpPr/>
          <p:nvPr/>
        </p:nvSpPr>
        <p:spPr>
          <a:xfrm>
            <a:off x="1317960" y="2103120"/>
            <a:ext cx="178272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E6ECFF"/>
                </a:solidFill>
                <a:effectLst/>
                <a:uFillTx/>
                <a:latin typeface="Calibri"/>
                <a:ea typeface="Calibri"/>
              </a:rPr>
              <a:t>User Upload</a:t>
            </a:r>
            <a:endParaRPr lang="en-IN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 9"/>
          <p:cNvSpPr/>
          <p:nvPr/>
        </p:nvSpPr>
        <p:spPr>
          <a:xfrm>
            <a:off x="3192480" y="2103120"/>
            <a:ext cx="22824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9AA7C7"/>
                </a:solidFill>
                <a:effectLst/>
                <a:uFillTx/>
                <a:latin typeface="Calibri"/>
              </a:rPr>
              <a:t>▶</a:t>
            </a:r>
            <a:endParaRPr lang="en-IN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4" name="Shape 10"/>
          <p:cNvSpPr/>
          <p:nvPr/>
        </p:nvSpPr>
        <p:spPr>
          <a:xfrm>
            <a:off x="3421080" y="2103120"/>
            <a:ext cx="2559960" cy="1005480"/>
          </a:xfrm>
          <a:prstGeom prst="roundRect">
            <a:avLst>
              <a:gd name="adj" fmla="val 13636"/>
            </a:avLst>
          </a:prstGeom>
          <a:solidFill>
            <a:srgbClr val="17223F"/>
          </a:solidFill>
          <a:ln w="25400">
            <a:solidFill>
              <a:srgbClr val="00E0C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5" name="Shape 11"/>
          <p:cNvSpPr/>
          <p:nvPr/>
        </p:nvSpPr>
        <p:spPr>
          <a:xfrm>
            <a:off x="3603960" y="2404800"/>
            <a:ext cx="411120" cy="411120"/>
          </a:xfrm>
          <a:prstGeom prst="ellipse">
            <a:avLst/>
          </a:prstGeom>
          <a:solidFill>
            <a:srgbClr val="00E0C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 12"/>
          <p:cNvSpPr/>
          <p:nvPr/>
        </p:nvSpPr>
        <p:spPr>
          <a:xfrm>
            <a:off x="3603960" y="2404800"/>
            <a:ext cx="4111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B1020"/>
                </a:solidFill>
                <a:effectLst/>
                <a:uFillTx/>
                <a:latin typeface="Calibri"/>
              </a:rPr>
              <a:t>2</a:t>
            </a:r>
            <a:endParaRPr lang="en-IN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7" name="Text 13"/>
          <p:cNvSpPr/>
          <p:nvPr/>
        </p:nvSpPr>
        <p:spPr>
          <a:xfrm>
            <a:off x="4106880" y="2103120"/>
            <a:ext cx="178272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E6ECFF"/>
                </a:solidFill>
                <a:effectLst/>
                <a:uFillTx/>
                <a:latin typeface="Calibri"/>
                <a:ea typeface="Calibri"/>
              </a:rPr>
              <a:t>Flask Application</a:t>
            </a:r>
            <a:endParaRPr lang="en-IN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 14"/>
          <p:cNvSpPr/>
          <p:nvPr/>
        </p:nvSpPr>
        <p:spPr>
          <a:xfrm>
            <a:off x="5981400" y="2103120"/>
            <a:ext cx="22824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9AA7C7"/>
                </a:solidFill>
                <a:effectLst/>
                <a:uFillTx/>
                <a:latin typeface="Calibri"/>
              </a:rPr>
              <a:t>▶</a:t>
            </a:r>
            <a:endParaRPr lang="en-IN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9" name="Shape 15"/>
          <p:cNvSpPr/>
          <p:nvPr/>
        </p:nvSpPr>
        <p:spPr>
          <a:xfrm>
            <a:off x="6210000" y="2103120"/>
            <a:ext cx="2559960" cy="1005480"/>
          </a:xfrm>
          <a:prstGeom prst="roundRect">
            <a:avLst>
              <a:gd name="adj" fmla="val 13636"/>
            </a:avLst>
          </a:prstGeom>
          <a:solidFill>
            <a:srgbClr val="17223F"/>
          </a:solidFill>
          <a:ln w="25400">
            <a:solidFill>
              <a:srgbClr val="60A5F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0" name="Shape 16"/>
          <p:cNvSpPr/>
          <p:nvPr/>
        </p:nvSpPr>
        <p:spPr>
          <a:xfrm>
            <a:off x="6392880" y="2404800"/>
            <a:ext cx="411120" cy="411120"/>
          </a:xfrm>
          <a:prstGeom prst="ellipse">
            <a:avLst/>
          </a:prstGeom>
          <a:solidFill>
            <a:srgbClr val="60A5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 17"/>
          <p:cNvSpPr/>
          <p:nvPr/>
        </p:nvSpPr>
        <p:spPr>
          <a:xfrm>
            <a:off x="6392880" y="2404800"/>
            <a:ext cx="4111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B1020"/>
                </a:solidFill>
                <a:effectLst/>
                <a:uFillTx/>
                <a:latin typeface="Calibri"/>
              </a:rPr>
              <a:t>3</a:t>
            </a:r>
            <a:endParaRPr lang="en-IN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2" name="Text 18"/>
          <p:cNvSpPr/>
          <p:nvPr/>
        </p:nvSpPr>
        <p:spPr>
          <a:xfrm>
            <a:off x="6895800" y="2103120"/>
            <a:ext cx="178272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E6ECFF"/>
                </a:solidFill>
                <a:effectLst/>
                <a:uFillTx/>
                <a:latin typeface="Calibri"/>
                <a:ea typeface="Calibri"/>
              </a:rPr>
              <a:t>CSV Processing</a:t>
            </a:r>
            <a:endParaRPr lang="en-IN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 19"/>
          <p:cNvSpPr/>
          <p:nvPr/>
        </p:nvSpPr>
        <p:spPr>
          <a:xfrm>
            <a:off x="8770320" y="2103120"/>
            <a:ext cx="22824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9AA7C7"/>
                </a:solidFill>
                <a:effectLst/>
                <a:uFillTx/>
                <a:latin typeface="Calibri"/>
              </a:rPr>
              <a:t>▶</a:t>
            </a:r>
            <a:endParaRPr lang="en-IN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4" name="Shape 20"/>
          <p:cNvSpPr/>
          <p:nvPr/>
        </p:nvSpPr>
        <p:spPr>
          <a:xfrm>
            <a:off x="8998920" y="2103120"/>
            <a:ext cx="2559960" cy="1005480"/>
          </a:xfrm>
          <a:prstGeom prst="roundRect">
            <a:avLst>
              <a:gd name="adj" fmla="val 13636"/>
            </a:avLst>
          </a:prstGeom>
          <a:solidFill>
            <a:srgbClr val="17223F"/>
          </a:solidFill>
          <a:ln w="25400">
            <a:solidFill>
              <a:srgbClr val="F472B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5" name="Shape 21"/>
          <p:cNvSpPr/>
          <p:nvPr/>
        </p:nvSpPr>
        <p:spPr>
          <a:xfrm>
            <a:off x="9181800" y="2404800"/>
            <a:ext cx="411120" cy="411120"/>
          </a:xfrm>
          <a:prstGeom prst="ellipse">
            <a:avLst/>
          </a:prstGeom>
          <a:solidFill>
            <a:srgbClr val="F472B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Text 22"/>
          <p:cNvSpPr/>
          <p:nvPr/>
        </p:nvSpPr>
        <p:spPr>
          <a:xfrm>
            <a:off x="9181800" y="2404800"/>
            <a:ext cx="4111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B1020"/>
                </a:solidFill>
                <a:effectLst/>
                <a:uFillTx/>
                <a:latin typeface="Calibri"/>
              </a:rPr>
              <a:t>4</a:t>
            </a:r>
            <a:endParaRPr lang="en-IN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7" name="Text 23"/>
          <p:cNvSpPr/>
          <p:nvPr/>
        </p:nvSpPr>
        <p:spPr>
          <a:xfrm>
            <a:off x="9684720" y="2103120"/>
            <a:ext cx="178272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E6ECFF"/>
                </a:solidFill>
                <a:effectLst/>
                <a:uFillTx/>
                <a:latin typeface="Calibri"/>
                <a:ea typeface="Calibri"/>
              </a:rPr>
              <a:t>Regex + AI Detection</a:t>
            </a:r>
            <a:endParaRPr lang="en-IN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8" name="Shape 24"/>
          <p:cNvSpPr/>
          <p:nvPr/>
        </p:nvSpPr>
        <p:spPr>
          <a:xfrm>
            <a:off x="632160" y="3611880"/>
            <a:ext cx="2559960" cy="1005480"/>
          </a:xfrm>
          <a:prstGeom prst="roundRect">
            <a:avLst>
              <a:gd name="adj" fmla="val 13636"/>
            </a:avLst>
          </a:prstGeom>
          <a:solidFill>
            <a:srgbClr val="17223F"/>
          </a:solidFill>
          <a:ln w="25400">
            <a:solidFill>
              <a:srgbClr val="FB923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9" name="Shape 25"/>
          <p:cNvSpPr/>
          <p:nvPr/>
        </p:nvSpPr>
        <p:spPr>
          <a:xfrm>
            <a:off x="815040" y="3913560"/>
            <a:ext cx="411120" cy="411120"/>
          </a:xfrm>
          <a:prstGeom prst="ellipse">
            <a:avLst/>
          </a:prstGeom>
          <a:solidFill>
            <a:srgbClr val="FB92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Text 26"/>
          <p:cNvSpPr/>
          <p:nvPr/>
        </p:nvSpPr>
        <p:spPr>
          <a:xfrm>
            <a:off x="815040" y="3913560"/>
            <a:ext cx="4111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B1020"/>
                </a:solidFill>
                <a:effectLst/>
                <a:uFillTx/>
                <a:latin typeface="Calibri"/>
              </a:rPr>
              <a:t>5</a:t>
            </a:r>
            <a:endParaRPr lang="en-IN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1" name="Text 27"/>
          <p:cNvSpPr/>
          <p:nvPr/>
        </p:nvSpPr>
        <p:spPr>
          <a:xfrm>
            <a:off x="1317960" y="3611880"/>
            <a:ext cx="178272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E6ECFF"/>
                </a:solidFill>
                <a:effectLst/>
                <a:uFillTx/>
                <a:latin typeface="Calibri"/>
                <a:ea typeface="Calibri"/>
              </a:rPr>
              <a:t>Masking Engine</a:t>
            </a:r>
            <a:endParaRPr lang="en-IN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 28"/>
          <p:cNvSpPr/>
          <p:nvPr/>
        </p:nvSpPr>
        <p:spPr>
          <a:xfrm>
            <a:off x="3192480" y="3611880"/>
            <a:ext cx="22824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9AA7C7"/>
                </a:solidFill>
                <a:effectLst/>
                <a:uFillTx/>
                <a:latin typeface="Calibri"/>
              </a:rPr>
              <a:t>▶</a:t>
            </a:r>
            <a:endParaRPr lang="en-IN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3" name="Shape 29"/>
          <p:cNvSpPr/>
          <p:nvPr/>
        </p:nvSpPr>
        <p:spPr>
          <a:xfrm>
            <a:off x="3421080" y="3611880"/>
            <a:ext cx="2559960" cy="1005480"/>
          </a:xfrm>
          <a:prstGeom prst="roundRect">
            <a:avLst>
              <a:gd name="adj" fmla="val 13636"/>
            </a:avLst>
          </a:prstGeom>
          <a:solidFill>
            <a:srgbClr val="17223F"/>
          </a:solidFill>
          <a:ln w="25400">
            <a:solidFill>
              <a:srgbClr val="34D3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4" name="Shape 30"/>
          <p:cNvSpPr/>
          <p:nvPr/>
        </p:nvSpPr>
        <p:spPr>
          <a:xfrm>
            <a:off x="3603960" y="3913560"/>
            <a:ext cx="411120" cy="411120"/>
          </a:xfrm>
          <a:prstGeom prst="ellipse">
            <a:avLst/>
          </a:prstGeom>
          <a:solidFill>
            <a:srgbClr val="34D3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Text 31"/>
          <p:cNvSpPr/>
          <p:nvPr/>
        </p:nvSpPr>
        <p:spPr>
          <a:xfrm>
            <a:off x="3603960" y="3913560"/>
            <a:ext cx="4111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B1020"/>
                </a:solidFill>
                <a:effectLst/>
                <a:uFillTx/>
                <a:latin typeface="Calibri"/>
              </a:rPr>
              <a:t>6</a:t>
            </a:r>
            <a:endParaRPr lang="en-IN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 32"/>
          <p:cNvSpPr/>
          <p:nvPr/>
        </p:nvSpPr>
        <p:spPr>
          <a:xfrm>
            <a:off x="4106880" y="3611880"/>
            <a:ext cx="178272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E6ECFF"/>
                </a:solidFill>
                <a:effectLst/>
                <a:uFillTx/>
                <a:latin typeface="Calibri"/>
                <a:ea typeface="Calibri"/>
              </a:rPr>
              <a:t>Report Generation</a:t>
            </a:r>
            <a:endParaRPr lang="en-IN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7" name="Text 33"/>
          <p:cNvSpPr/>
          <p:nvPr/>
        </p:nvSpPr>
        <p:spPr>
          <a:xfrm>
            <a:off x="5981400" y="3611880"/>
            <a:ext cx="22824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9AA7C7"/>
                </a:solidFill>
                <a:effectLst/>
                <a:uFillTx/>
                <a:latin typeface="Calibri"/>
              </a:rPr>
              <a:t>▶</a:t>
            </a:r>
            <a:endParaRPr lang="en-IN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8" name="Shape 34"/>
          <p:cNvSpPr/>
          <p:nvPr/>
        </p:nvSpPr>
        <p:spPr>
          <a:xfrm>
            <a:off x="6210000" y="3611880"/>
            <a:ext cx="2559960" cy="1005480"/>
          </a:xfrm>
          <a:prstGeom prst="roundRect">
            <a:avLst>
              <a:gd name="adj" fmla="val 13636"/>
            </a:avLst>
          </a:prstGeom>
          <a:solidFill>
            <a:srgbClr val="17223F"/>
          </a:solidFill>
          <a:ln w="25400">
            <a:solidFill>
              <a:srgbClr val="A78BF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9" name="Shape 35"/>
          <p:cNvSpPr/>
          <p:nvPr/>
        </p:nvSpPr>
        <p:spPr>
          <a:xfrm>
            <a:off x="6392880" y="3913560"/>
            <a:ext cx="411120" cy="411120"/>
          </a:xfrm>
          <a:prstGeom prst="ellipse">
            <a:avLst/>
          </a:prstGeom>
          <a:solidFill>
            <a:srgbClr val="A78B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0" name="Text 36"/>
          <p:cNvSpPr/>
          <p:nvPr/>
        </p:nvSpPr>
        <p:spPr>
          <a:xfrm>
            <a:off x="6392880" y="3913560"/>
            <a:ext cx="4111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B1020"/>
                </a:solidFill>
                <a:effectLst/>
                <a:uFillTx/>
                <a:latin typeface="Calibri"/>
              </a:rPr>
              <a:t>7</a:t>
            </a:r>
            <a:endParaRPr lang="en-IN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1" name="Text 37"/>
          <p:cNvSpPr/>
          <p:nvPr/>
        </p:nvSpPr>
        <p:spPr>
          <a:xfrm>
            <a:off x="6895800" y="3611880"/>
            <a:ext cx="178272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E6ECFF"/>
                </a:solidFill>
                <a:effectLst/>
                <a:uFillTx/>
                <a:latin typeface="Calibri"/>
                <a:ea typeface="Calibri"/>
              </a:rPr>
              <a:t>Dashboard</a:t>
            </a:r>
            <a:endParaRPr lang="en-IN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 38"/>
          <p:cNvSpPr/>
          <p:nvPr/>
        </p:nvSpPr>
        <p:spPr>
          <a:xfrm>
            <a:off x="8770320" y="3611880"/>
            <a:ext cx="22824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9AA7C7"/>
                </a:solidFill>
                <a:effectLst/>
                <a:uFillTx/>
                <a:latin typeface="Calibri"/>
              </a:rPr>
              <a:t>▶</a:t>
            </a:r>
            <a:endParaRPr lang="en-IN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3" name="Shape 39"/>
          <p:cNvSpPr/>
          <p:nvPr/>
        </p:nvSpPr>
        <p:spPr>
          <a:xfrm>
            <a:off x="8998920" y="3611880"/>
            <a:ext cx="2559960" cy="1005480"/>
          </a:xfrm>
          <a:prstGeom prst="roundRect">
            <a:avLst>
              <a:gd name="adj" fmla="val 13636"/>
            </a:avLst>
          </a:prstGeom>
          <a:solidFill>
            <a:srgbClr val="17223F"/>
          </a:solidFill>
          <a:ln w="25400">
            <a:solidFill>
              <a:srgbClr val="22C5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4" name="Shape 40"/>
          <p:cNvSpPr/>
          <p:nvPr/>
        </p:nvSpPr>
        <p:spPr>
          <a:xfrm>
            <a:off x="9181800" y="3913560"/>
            <a:ext cx="411120" cy="411120"/>
          </a:xfrm>
          <a:prstGeom prst="ellipse">
            <a:avLst/>
          </a:prstGeom>
          <a:solidFill>
            <a:srgbClr val="22C55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 41"/>
          <p:cNvSpPr/>
          <p:nvPr/>
        </p:nvSpPr>
        <p:spPr>
          <a:xfrm>
            <a:off x="9181800" y="3913560"/>
            <a:ext cx="4111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B1020"/>
                </a:solidFill>
                <a:effectLst/>
                <a:uFillTx/>
                <a:latin typeface="Calibri"/>
              </a:rPr>
              <a:t>8</a:t>
            </a:r>
            <a:endParaRPr lang="en-IN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6" name="Text 42"/>
          <p:cNvSpPr/>
          <p:nvPr/>
        </p:nvSpPr>
        <p:spPr>
          <a:xfrm>
            <a:off x="9684720" y="3611880"/>
            <a:ext cx="178272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E6ECFF"/>
                </a:solidFill>
                <a:effectLst/>
                <a:uFillTx/>
                <a:latin typeface="Calibri"/>
                <a:ea typeface="Calibri"/>
              </a:rPr>
              <a:t>Download Output</a:t>
            </a:r>
            <a:endParaRPr lang="en-IN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 43"/>
          <p:cNvSpPr/>
          <p:nvPr/>
        </p:nvSpPr>
        <p:spPr>
          <a:xfrm>
            <a:off x="0" y="3154680"/>
            <a:ext cx="12191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00E0C6"/>
                </a:solidFill>
                <a:effectLst/>
                <a:uFillTx/>
                <a:latin typeface="Calibri"/>
              </a:rPr>
              <a:t>▼  ▼  ▼  ▼</a:t>
            </a:r>
            <a:endParaRPr lang="en-IN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8" name="Text 44"/>
          <p:cNvSpPr/>
          <p:nvPr/>
        </p:nvSpPr>
        <p:spPr>
          <a:xfrm>
            <a:off x="365760" y="649224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9AA7C7"/>
                </a:solidFill>
                <a:effectLst/>
                <a:uFillTx/>
                <a:latin typeface="Calibri"/>
                <a:ea typeface="Calibri"/>
              </a:rPr>
              <a:t>PII Shield AI  •  Hybrid AI Privacy Detection Engine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9" name="Text 45"/>
          <p:cNvSpPr/>
          <p:nvPr/>
        </p:nvSpPr>
        <p:spPr>
          <a:xfrm>
            <a:off x="11094480" y="6492240"/>
            <a:ext cx="731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9AA7C7"/>
                </a:solidFill>
                <a:effectLst/>
                <a:uFillTx/>
                <a:latin typeface="Calibri"/>
                <a:ea typeface="Calibri"/>
              </a:rPr>
              <a:t>4 / 14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Shape 0"/>
          <p:cNvSpPr/>
          <p:nvPr/>
        </p:nvSpPr>
        <p:spPr>
          <a:xfrm>
            <a:off x="0" y="0"/>
            <a:ext cx="12191400" cy="72720"/>
          </a:xfrm>
          <a:prstGeom prst="rect">
            <a:avLst/>
          </a:prstGeom>
          <a:solidFill>
            <a:srgbClr val="3DA9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8080" rIns="90000" bIns="2808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Shape 1"/>
          <p:cNvSpPr/>
          <p:nvPr/>
        </p:nvSpPr>
        <p:spPr>
          <a:xfrm>
            <a:off x="0" y="73080"/>
            <a:ext cx="4266720" cy="36360"/>
          </a:xfrm>
          <a:prstGeom prst="rect">
            <a:avLst/>
          </a:prstGeom>
          <a:solidFill>
            <a:srgbClr val="00E0C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8280" rIns="90000" bIns="-828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Text 2"/>
          <p:cNvSpPr/>
          <p:nvPr/>
        </p:nvSpPr>
        <p:spPr>
          <a:xfrm>
            <a:off x="548640" y="411480"/>
            <a:ext cx="9143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pc="400" strike="noStrike">
                <a:solidFill>
                  <a:srgbClr val="00E0C6"/>
                </a:solidFill>
                <a:effectLst/>
                <a:uFillTx/>
                <a:latin typeface="Calibri"/>
                <a:ea typeface="Calibri"/>
              </a:rPr>
              <a:t>DETECTION LAYER 1</a:t>
            </a:r>
            <a:endParaRPr lang="en-IN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3" name="Text 3"/>
          <p:cNvSpPr/>
          <p:nvPr/>
        </p:nvSpPr>
        <p:spPr>
          <a:xfrm>
            <a:off x="548640" y="777240"/>
            <a:ext cx="109724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400" b="1" u="none" strike="noStrike">
                <a:solidFill>
                  <a:srgbClr val="E6ECFF"/>
                </a:solidFill>
                <a:effectLst/>
                <a:uFillTx/>
                <a:latin typeface="Calibri"/>
                <a:ea typeface="Calibri"/>
              </a:rPr>
              <a:t>Regex-Based Pattern Matching</a:t>
            </a:r>
            <a:endParaRPr lang="en-IN" sz="3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4" name="Shape 4"/>
          <p:cNvSpPr/>
          <p:nvPr/>
        </p:nvSpPr>
        <p:spPr>
          <a:xfrm>
            <a:off x="548640" y="1627560"/>
            <a:ext cx="1096920" cy="54360"/>
          </a:xfrm>
          <a:prstGeom prst="rect">
            <a:avLst/>
          </a:prstGeom>
          <a:solidFill>
            <a:srgbClr val="3DA9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9720" rIns="90000" bIns="972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Shape 5"/>
          <p:cNvSpPr/>
          <p:nvPr/>
        </p:nvSpPr>
        <p:spPr>
          <a:xfrm>
            <a:off x="548640" y="1920240"/>
            <a:ext cx="11063880" cy="868320"/>
          </a:xfrm>
          <a:prstGeom prst="roundRect">
            <a:avLst>
              <a:gd name="adj" fmla="val 12632"/>
            </a:avLst>
          </a:prstGeom>
          <a:solidFill>
            <a:srgbClr val="17223F"/>
          </a:solidFill>
          <a:ln w="12700">
            <a:solidFill>
              <a:srgbClr val="2A35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6" name="Shape 6"/>
          <p:cNvSpPr/>
          <p:nvPr/>
        </p:nvSpPr>
        <p:spPr>
          <a:xfrm>
            <a:off x="548640" y="1920240"/>
            <a:ext cx="136800" cy="868320"/>
          </a:xfrm>
          <a:prstGeom prst="rect">
            <a:avLst/>
          </a:prstGeom>
          <a:solidFill>
            <a:srgbClr val="3DA9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Text 7"/>
          <p:cNvSpPr/>
          <p:nvPr/>
        </p:nvSpPr>
        <p:spPr>
          <a:xfrm>
            <a:off x="914400" y="1920240"/>
            <a:ext cx="182844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E6ECFF"/>
                </a:solidFill>
                <a:effectLst/>
                <a:uFillTx/>
                <a:latin typeface="Calibri"/>
                <a:ea typeface="Calibri"/>
              </a:rPr>
              <a:t>Email</a:t>
            </a:r>
            <a:endParaRPr lang="en-IN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8" name="Shape 8"/>
          <p:cNvSpPr/>
          <p:nvPr/>
        </p:nvSpPr>
        <p:spPr>
          <a:xfrm>
            <a:off x="2834640" y="2084760"/>
            <a:ext cx="8595000" cy="548280"/>
          </a:xfrm>
          <a:prstGeom prst="roundRect">
            <a:avLst>
              <a:gd name="adj" fmla="val 10000"/>
            </a:avLst>
          </a:prstGeom>
          <a:solidFill>
            <a:srgbClr val="000814"/>
          </a:solidFill>
          <a:ln w="12700">
            <a:solidFill>
              <a:srgbClr val="2A35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9" name="Text 9"/>
          <p:cNvSpPr/>
          <p:nvPr/>
        </p:nvSpPr>
        <p:spPr>
          <a:xfrm>
            <a:off x="2971800" y="2084760"/>
            <a:ext cx="84121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3DA9FC"/>
                </a:solidFill>
                <a:effectLst/>
                <a:uFillTx/>
                <a:latin typeface="Consolas"/>
                <a:ea typeface="Consolas"/>
              </a:rPr>
              <a:t>[a-zA-Z0-9._%+-]+@[a-zA-Z0-9.-]+\.[a-zA-Z]{2,}</a:t>
            </a:r>
            <a:endParaRPr lang="en-IN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0" name="Shape 10"/>
          <p:cNvSpPr/>
          <p:nvPr/>
        </p:nvSpPr>
        <p:spPr>
          <a:xfrm>
            <a:off x="548640" y="2926080"/>
            <a:ext cx="11063880" cy="868320"/>
          </a:xfrm>
          <a:prstGeom prst="roundRect">
            <a:avLst>
              <a:gd name="adj" fmla="val 12632"/>
            </a:avLst>
          </a:prstGeom>
          <a:solidFill>
            <a:srgbClr val="17223F"/>
          </a:solidFill>
          <a:ln w="12700">
            <a:solidFill>
              <a:srgbClr val="2A35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1" name="Shape 11"/>
          <p:cNvSpPr/>
          <p:nvPr/>
        </p:nvSpPr>
        <p:spPr>
          <a:xfrm>
            <a:off x="548640" y="2926080"/>
            <a:ext cx="136800" cy="868320"/>
          </a:xfrm>
          <a:prstGeom prst="rect">
            <a:avLst/>
          </a:prstGeom>
          <a:solidFill>
            <a:srgbClr val="00E0C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Text 12"/>
          <p:cNvSpPr/>
          <p:nvPr/>
        </p:nvSpPr>
        <p:spPr>
          <a:xfrm>
            <a:off x="914400" y="2926080"/>
            <a:ext cx="182844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E6ECFF"/>
                </a:solidFill>
                <a:effectLst/>
                <a:uFillTx/>
                <a:latin typeface="Calibri"/>
                <a:ea typeface="Calibri"/>
              </a:rPr>
              <a:t>Phone</a:t>
            </a:r>
            <a:endParaRPr lang="en-IN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3" name="Shape 13"/>
          <p:cNvSpPr/>
          <p:nvPr/>
        </p:nvSpPr>
        <p:spPr>
          <a:xfrm>
            <a:off x="2834640" y="3090600"/>
            <a:ext cx="8595000" cy="548280"/>
          </a:xfrm>
          <a:prstGeom prst="roundRect">
            <a:avLst>
              <a:gd name="adj" fmla="val 10000"/>
            </a:avLst>
          </a:prstGeom>
          <a:solidFill>
            <a:srgbClr val="000814"/>
          </a:solidFill>
          <a:ln w="12700">
            <a:solidFill>
              <a:srgbClr val="2A35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4" name="Text 14"/>
          <p:cNvSpPr/>
          <p:nvPr/>
        </p:nvSpPr>
        <p:spPr>
          <a:xfrm>
            <a:off x="2971800" y="3090600"/>
            <a:ext cx="84121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00E0C6"/>
                </a:solidFill>
                <a:effectLst/>
                <a:uFillTx/>
                <a:latin typeface="Consolas"/>
                <a:ea typeface="Consolas"/>
              </a:rPr>
              <a:t>\d{10}</a:t>
            </a:r>
            <a:endParaRPr lang="en-IN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5" name="Shape 15"/>
          <p:cNvSpPr/>
          <p:nvPr/>
        </p:nvSpPr>
        <p:spPr>
          <a:xfrm>
            <a:off x="548640" y="3931920"/>
            <a:ext cx="11063880" cy="868320"/>
          </a:xfrm>
          <a:prstGeom prst="roundRect">
            <a:avLst>
              <a:gd name="adj" fmla="val 12632"/>
            </a:avLst>
          </a:prstGeom>
          <a:solidFill>
            <a:srgbClr val="17223F"/>
          </a:solidFill>
          <a:ln w="12700">
            <a:solidFill>
              <a:srgbClr val="2A35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6" name="Shape 16"/>
          <p:cNvSpPr/>
          <p:nvPr/>
        </p:nvSpPr>
        <p:spPr>
          <a:xfrm>
            <a:off x="548640" y="3931920"/>
            <a:ext cx="136800" cy="868320"/>
          </a:xfrm>
          <a:prstGeom prst="rect">
            <a:avLst/>
          </a:prstGeom>
          <a:solidFill>
            <a:srgbClr val="F472B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Text 17"/>
          <p:cNvSpPr/>
          <p:nvPr/>
        </p:nvSpPr>
        <p:spPr>
          <a:xfrm>
            <a:off x="914400" y="3931920"/>
            <a:ext cx="182844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E6ECFF"/>
                </a:solidFill>
                <a:effectLst/>
                <a:uFillTx/>
                <a:latin typeface="Calibri"/>
                <a:ea typeface="Calibri"/>
              </a:rPr>
              <a:t>PAN</a:t>
            </a:r>
            <a:endParaRPr lang="en-IN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8" name="Shape 18"/>
          <p:cNvSpPr/>
          <p:nvPr/>
        </p:nvSpPr>
        <p:spPr>
          <a:xfrm>
            <a:off x="2834640" y="4096440"/>
            <a:ext cx="8595000" cy="548280"/>
          </a:xfrm>
          <a:prstGeom prst="roundRect">
            <a:avLst>
              <a:gd name="adj" fmla="val 10000"/>
            </a:avLst>
          </a:prstGeom>
          <a:solidFill>
            <a:srgbClr val="000814"/>
          </a:solidFill>
          <a:ln w="12700">
            <a:solidFill>
              <a:srgbClr val="2A35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9" name="Text 19"/>
          <p:cNvSpPr/>
          <p:nvPr/>
        </p:nvSpPr>
        <p:spPr>
          <a:xfrm>
            <a:off x="2971800" y="4096440"/>
            <a:ext cx="84121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72B6"/>
                </a:solidFill>
                <a:effectLst/>
                <a:uFillTx/>
                <a:latin typeface="Consolas"/>
                <a:ea typeface="Consolas"/>
              </a:rPr>
              <a:t>[A-Z]{5}[0-9]{4}[A-Z]</a:t>
            </a:r>
            <a:endParaRPr lang="en-IN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0" name="Shape 20"/>
          <p:cNvSpPr/>
          <p:nvPr/>
        </p:nvSpPr>
        <p:spPr>
          <a:xfrm>
            <a:off x="548640" y="4937760"/>
            <a:ext cx="11063880" cy="868320"/>
          </a:xfrm>
          <a:prstGeom prst="roundRect">
            <a:avLst>
              <a:gd name="adj" fmla="val 12632"/>
            </a:avLst>
          </a:prstGeom>
          <a:solidFill>
            <a:srgbClr val="17223F"/>
          </a:solidFill>
          <a:ln w="12700">
            <a:solidFill>
              <a:srgbClr val="2A35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1" name="Shape 21"/>
          <p:cNvSpPr/>
          <p:nvPr/>
        </p:nvSpPr>
        <p:spPr>
          <a:xfrm>
            <a:off x="548640" y="4937760"/>
            <a:ext cx="136800" cy="868320"/>
          </a:xfrm>
          <a:prstGeom prst="rect">
            <a:avLst/>
          </a:prstGeom>
          <a:solidFill>
            <a:srgbClr val="FB92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Text 22"/>
          <p:cNvSpPr/>
          <p:nvPr/>
        </p:nvSpPr>
        <p:spPr>
          <a:xfrm>
            <a:off x="914400" y="4937760"/>
            <a:ext cx="182844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E6ECFF"/>
                </a:solidFill>
                <a:effectLst/>
                <a:uFillTx/>
                <a:latin typeface="Calibri"/>
                <a:ea typeface="Calibri"/>
              </a:rPr>
              <a:t>Aadhaar</a:t>
            </a:r>
            <a:endParaRPr lang="en-IN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3" name="Shape 23"/>
          <p:cNvSpPr/>
          <p:nvPr/>
        </p:nvSpPr>
        <p:spPr>
          <a:xfrm>
            <a:off x="2834640" y="5102280"/>
            <a:ext cx="8595000" cy="548280"/>
          </a:xfrm>
          <a:prstGeom prst="roundRect">
            <a:avLst>
              <a:gd name="adj" fmla="val 10000"/>
            </a:avLst>
          </a:prstGeom>
          <a:solidFill>
            <a:srgbClr val="000814"/>
          </a:solidFill>
          <a:ln w="12700">
            <a:solidFill>
              <a:srgbClr val="2A35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4" name="Text 24"/>
          <p:cNvSpPr/>
          <p:nvPr/>
        </p:nvSpPr>
        <p:spPr>
          <a:xfrm>
            <a:off x="2971800" y="5102280"/>
            <a:ext cx="84121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B923C"/>
                </a:solidFill>
                <a:effectLst/>
                <a:uFillTx/>
                <a:latin typeface="Consolas"/>
                <a:ea typeface="Consolas"/>
              </a:rPr>
              <a:t>\d{12}</a:t>
            </a:r>
            <a:endParaRPr lang="en-IN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5" name="Text 25"/>
          <p:cNvSpPr/>
          <p:nvPr/>
        </p:nvSpPr>
        <p:spPr>
          <a:xfrm>
            <a:off x="365760" y="649224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9AA7C7"/>
                </a:solidFill>
                <a:effectLst/>
                <a:uFillTx/>
                <a:latin typeface="Calibri"/>
                <a:ea typeface="Calibri"/>
              </a:rPr>
              <a:t>PII Shield AI  •  Hybrid AI Privacy Detection Engine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6" name="Text 26"/>
          <p:cNvSpPr/>
          <p:nvPr/>
        </p:nvSpPr>
        <p:spPr>
          <a:xfrm>
            <a:off x="11094480" y="6492240"/>
            <a:ext cx="731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9AA7C7"/>
                </a:solidFill>
                <a:effectLst/>
                <a:uFillTx/>
                <a:latin typeface="Calibri"/>
                <a:ea typeface="Calibri"/>
              </a:rPr>
              <a:t>5 / 14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Shape 0"/>
          <p:cNvSpPr/>
          <p:nvPr/>
        </p:nvSpPr>
        <p:spPr>
          <a:xfrm>
            <a:off x="0" y="0"/>
            <a:ext cx="12191400" cy="72720"/>
          </a:xfrm>
          <a:prstGeom prst="rect">
            <a:avLst/>
          </a:prstGeom>
          <a:solidFill>
            <a:srgbClr val="3DA9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8080" rIns="90000" bIns="2808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Shape 1"/>
          <p:cNvSpPr/>
          <p:nvPr/>
        </p:nvSpPr>
        <p:spPr>
          <a:xfrm>
            <a:off x="0" y="73080"/>
            <a:ext cx="4266720" cy="36360"/>
          </a:xfrm>
          <a:prstGeom prst="rect">
            <a:avLst/>
          </a:prstGeom>
          <a:solidFill>
            <a:srgbClr val="00E0C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8280" rIns="90000" bIns="-828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Text 2"/>
          <p:cNvSpPr/>
          <p:nvPr/>
        </p:nvSpPr>
        <p:spPr>
          <a:xfrm>
            <a:off x="548640" y="411480"/>
            <a:ext cx="9143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pc="400" strike="noStrike">
                <a:solidFill>
                  <a:srgbClr val="00E0C6"/>
                </a:solidFill>
                <a:effectLst/>
                <a:uFillTx/>
                <a:latin typeface="Calibri"/>
                <a:ea typeface="Calibri"/>
              </a:rPr>
              <a:t>DETECTION LAYER 2</a:t>
            </a:r>
            <a:endParaRPr lang="en-IN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0" name="Text 3"/>
          <p:cNvSpPr/>
          <p:nvPr/>
        </p:nvSpPr>
        <p:spPr>
          <a:xfrm>
            <a:off x="548640" y="777240"/>
            <a:ext cx="109724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400" b="1" u="none" strike="noStrike">
                <a:solidFill>
                  <a:srgbClr val="E6ECFF"/>
                </a:solidFill>
                <a:effectLst/>
                <a:uFillTx/>
                <a:latin typeface="Calibri"/>
                <a:ea typeface="Calibri"/>
              </a:rPr>
              <a:t>AI Validation for Accuracy</a:t>
            </a:r>
            <a:endParaRPr lang="en-IN" sz="3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1" name="Shape 4"/>
          <p:cNvSpPr/>
          <p:nvPr/>
        </p:nvSpPr>
        <p:spPr>
          <a:xfrm>
            <a:off x="548640" y="1627560"/>
            <a:ext cx="1096920" cy="54360"/>
          </a:xfrm>
          <a:prstGeom prst="rect">
            <a:avLst/>
          </a:prstGeom>
          <a:solidFill>
            <a:srgbClr val="3DA9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9720" rIns="90000" bIns="972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Shape 5"/>
          <p:cNvSpPr/>
          <p:nvPr/>
        </p:nvSpPr>
        <p:spPr>
          <a:xfrm>
            <a:off x="655200" y="2103120"/>
            <a:ext cx="2377080" cy="914040"/>
          </a:xfrm>
          <a:prstGeom prst="roundRect">
            <a:avLst>
              <a:gd name="adj" fmla="val 50000"/>
            </a:avLst>
          </a:prstGeom>
          <a:solidFill>
            <a:srgbClr val="17223F"/>
          </a:solidFill>
          <a:ln w="25400">
            <a:solidFill>
              <a:srgbClr val="3DA9F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3" name="Text 6"/>
          <p:cNvSpPr/>
          <p:nvPr/>
        </p:nvSpPr>
        <p:spPr>
          <a:xfrm>
            <a:off x="655200" y="2103120"/>
            <a:ext cx="237708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E6ECFF"/>
                </a:solidFill>
                <a:effectLst/>
                <a:uFillTx/>
                <a:latin typeface="Calibri"/>
                <a:ea typeface="Calibri"/>
              </a:rPr>
              <a:t>Input File</a:t>
            </a:r>
            <a:endParaRPr lang="en-IN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4" name="Text 7"/>
          <p:cNvSpPr/>
          <p:nvPr/>
        </p:nvSpPr>
        <p:spPr>
          <a:xfrm>
            <a:off x="3032640" y="2103120"/>
            <a:ext cx="4568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0" u="none" strike="noStrike">
                <a:solidFill>
                  <a:srgbClr val="00E0C6"/>
                </a:solidFill>
                <a:effectLst/>
                <a:uFillTx/>
                <a:latin typeface="Calibri"/>
              </a:rPr>
              <a:t>→</a:t>
            </a:r>
            <a:endParaRPr lang="en-IN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5" name="Shape 8"/>
          <p:cNvSpPr/>
          <p:nvPr/>
        </p:nvSpPr>
        <p:spPr>
          <a:xfrm>
            <a:off x="3489840" y="2103120"/>
            <a:ext cx="2377080" cy="914040"/>
          </a:xfrm>
          <a:prstGeom prst="roundRect">
            <a:avLst>
              <a:gd name="adj" fmla="val 50000"/>
            </a:avLst>
          </a:prstGeom>
          <a:solidFill>
            <a:srgbClr val="17223F"/>
          </a:solidFill>
          <a:ln w="25400">
            <a:solidFill>
              <a:srgbClr val="3DA9F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6" name="Text 9"/>
          <p:cNvSpPr/>
          <p:nvPr/>
        </p:nvSpPr>
        <p:spPr>
          <a:xfrm>
            <a:off x="3489840" y="2103120"/>
            <a:ext cx="237708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E6ECFF"/>
                </a:solidFill>
                <a:effectLst/>
                <a:uFillTx/>
                <a:latin typeface="Calibri"/>
                <a:ea typeface="Calibri"/>
              </a:rPr>
              <a:t>Regex Detection</a:t>
            </a:r>
            <a:endParaRPr lang="en-IN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7" name="Text 10"/>
          <p:cNvSpPr/>
          <p:nvPr/>
        </p:nvSpPr>
        <p:spPr>
          <a:xfrm>
            <a:off x="5867280" y="2103120"/>
            <a:ext cx="4568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0" u="none" strike="noStrike">
                <a:solidFill>
                  <a:srgbClr val="00E0C6"/>
                </a:solidFill>
                <a:effectLst/>
                <a:uFillTx/>
                <a:latin typeface="Calibri"/>
              </a:rPr>
              <a:t>→</a:t>
            </a:r>
            <a:endParaRPr lang="en-IN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8" name="Shape 11"/>
          <p:cNvSpPr/>
          <p:nvPr/>
        </p:nvSpPr>
        <p:spPr>
          <a:xfrm>
            <a:off x="6324480" y="2103120"/>
            <a:ext cx="2377080" cy="914040"/>
          </a:xfrm>
          <a:prstGeom prst="roundRect">
            <a:avLst>
              <a:gd name="adj" fmla="val 50000"/>
            </a:avLst>
          </a:prstGeom>
          <a:solidFill>
            <a:srgbClr val="00E0C6"/>
          </a:solidFill>
          <a:ln w="25400">
            <a:solidFill>
              <a:srgbClr val="3DA9F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Text 12"/>
          <p:cNvSpPr/>
          <p:nvPr/>
        </p:nvSpPr>
        <p:spPr>
          <a:xfrm>
            <a:off x="6324480" y="2103120"/>
            <a:ext cx="237708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0B1020"/>
                </a:solidFill>
                <a:effectLst/>
                <a:uFillTx/>
                <a:latin typeface="Calibri"/>
                <a:ea typeface="Calibri"/>
              </a:rPr>
              <a:t>AI Validation</a:t>
            </a:r>
            <a:endParaRPr lang="en-IN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0" name="Text 13"/>
          <p:cNvSpPr/>
          <p:nvPr/>
        </p:nvSpPr>
        <p:spPr>
          <a:xfrm>
            <a:off x="8701920" y="2103120"/>
            <a:ext cx="4568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0" u="none" strike="noStrike">
                <a:solidFill>
                  <a:srgbClr val="00E0C6"/>
                </a:solidFill>
                <a:effectLst/>
                <a:uFillTx/>
                <a:latin typeface="Calibri"/>
              </a:rPr>
              <a:t>→</a:t>
            </a:r>
            <a:endParaRPr lang="en-IN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1" name="Shape 14"/>
          <p:cNvSpPr/>
          <p:nvPr/>
        </p:nvSpPr>
        <p:spPr>
          <a:xfrm>
            <a:off x="9159120" y="2103120"/>
            <a:ext cx="2377080" cy="914040"/>
          </a:xfrm>
          <a:prstGeom prst="roundRect">
            <a:avLst>
              <a:gd name="adj" fmla="val 50000"/>
            </a:avLst>
          </a:prstGeom>
          <a:solidFill>
            <a:srgbClr val="17223F"/>
          </a:solidFill>
          <a:ln w="25400">
            <a:solidFill>
              <a:srgbClr val="3DA9F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2" name="Text 15"/>
          <p:cNvSpPr/>
          <p:nvPr/>
        </p:nvSpPr>
        <p:spPr>
          <a:xfrm>
            <a:off x="9159120" y="2103120"/>
            <a:ext cx="237708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E6ECFF"/>
                </a:solidFill>
                <a:effectLst/>
                <a:uFillTx/>
                <a:latin typeface="Calibri"/>
                <a:ea typeface="Calibri"/>
              </a:rPr>
              <a:t>Masking</a:t>
            </a:r>
            <a:endParaRPr lang="en-IN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3" name="Shape 16"/>
          <p:cNvSpPr/>
          <p:nvPr/>
        </p:nvSpPr>
        <p:spPr>
          <a:xfrm>
            <a:off x="1097280" y="3657600"/>
            <a:ext cx="4937400" cy="2011320"/>
          </a:xfrm>
          <a:prstGeom prst="roundRect">
            <a:avLst>
              <a:gd name="adj" fmla="val 5455"/>
            </a:avLst>
          </a:prstGeom>
          <a:solidFill>
            <a:srgbClr val="17223F"/>
          </a:solidFill>
          <a:ln w="12700">
            <a:solidFill>
              <a:srgbClr val="2A35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4" name="Text 17"/>
          <p:cNvSpPr/>
          <p:nvPr/>
        </p:nvSpPr>
        <p:spPr>
          <a:xfrm>
            <a:off x="1280160" y="3794760"/>
            <a:ext cx="4571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00E0C6"/>
                </a:solidFill>
                <a:effectLst/>
                <a:uFillTx/>
                <a:latin typeface="Calibri"/>
                <a:ea typeface="Calibri"/>
              </a:rPr>
              <a:t>🎯  Reduce False Positives</a:t>
            </a: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5" name="Text 18"/>
          <p:cNvSpPr/>
          <p:nvPr/>
        </p:nvSpPr>
        <p:spPr>
          <a:xfrm>
            <a:off x="1280160" y="4297680"/>
            <a:ext cx="4571640" cy="12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E6ECFF"/>
                </a:solidFill>
                <a:effectLst/>
                <a:uFillTx/>
                <a:latin typeface="Calibri"/>
                <a:ea typeface="Calibri"/>
              </a:rPr>
              <a:t>AI validates regex matches against context, filtering out look-alike numbers (order IDs, ZIPs) that pattern-matching alone would flag.</a:t>
            </a:r>
            <a:endParaRPr lang="en-IN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6" name="Shape 19"/>
          <p:cNvSpPr/>
          <p:nvPr/>
        </p:nvSpPr>
        <p:spPr>
          <a:xfrm>
            <a:off x="6217920" y="3657600"/>
            <a:ext cx="4937400" cy="2011320"/>
          </a:xfrm>
          <a:prstGeom prst="roundRect">
            <a:avLst>
              <a:gd name="adj" fmla="val 5455"/>
            </a:avLst>
          </a:prstGeom>
          <a:solidFill>
            <a:srgbClr val="17223F"/>
          </a:solidFill>
          <a:ln w="12700">
            <a:solidFill>
              <a:srgbClr val="2A35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7" name="Text 20"/>
          <p:cNvSpPr/>
          <p:nvPr/>
        </p:nvSpPr>
        <p:spPr>
          <a:xfrm>
            <a:off x="6400800" y="3794760"/>
            <a:ext cx="4571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472B6"/>
                </a:solidFill>
                <a:effectLst/>
                <a:uFillTx/>
                <a:latin typeface="Calibri"/>
                <a:ea typeface="Calibri"/>
              </a:rPr>
              <a:t>🛡  Improve Reliability</a:t>
            </a: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8" name="Text 21"/>
          <p:cNvSpPr/>
          <p:nvPr/>
        </p:nvSpPr>
        <p:spPr>
          <a:xfrm>
            <a:off x="6400800" y="4297680"/>
            <a:ext cx="4571640" cy="12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E6ECFF"/>
                </a:solidFill>
                <a:effectLst/>
                <a:uFillTx/>
                <a:latin typeface="Calibri"/>
                <a:ea typeface="Calibri"/>
              </a:rPr>
              <a:t>A second intelligent layer increases trust in the masked output and ensures compliance-grade accuracy across diverse datasets.</a:t>
            </a:r>
            <a:endParaRPr lang="en-IN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9" name="Text 22"/>
          <p:cNvSpPr/>
          <p:nvPr/>
        </p:nvSpPr>
        <p:spPr>
          <a:xfrm>
            <a:off x="365760" y="649224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9AA7C7"/>
                </a:solidFill>
                <a:effectLst/>
                <a:uFillTx/>
                <a:latin typeface="Calibri"/>
                <a:ea typeface="Calibri"/>
              </a:rPr>
              <a:t>PII Shield AI  •  Hybrid AI Privacy Detection Engine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0" name="Text 23"/>
          <p:cNvSpPr/>
          <p:nvPr/>
        </p:nvSpPr>
        <p:spPr>
          <a:xfrm>
            <a:off x="11094480" y="6492240"/>
            <a:ext cx="731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9AA7C7"/>
                </a:solidFill>
                <a:effectLst/>
                <a:uFillTx/>
                <a:latin typeface="Calibri"/>
                <a:ea typeface="Calibri"/>
              </a:rPr>
              <a:t>6 / 14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Shape 0"/>
          <p:cNvSpPr/>
          <p:nvPr/>
        </p:nvSpPr>
        <p:spPr>
          <a:xfrm>
            <a:off x="0" y="0"/>
            <a:ext cx="12191400" cy="72720"/>
          </a:xfrm>
          <a:prstGeom prst="rect">
            <a:avLst/>
          </a:prstGeom>
          <a:solidFill>
            <a:srgbClr val="3DA9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8080" rIns="90000" bIns="2808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Shape 1"/>
          <p:cNvSpPr/>
          <p:nvPr/>
        </p:nvSpPr>
        <p:spPr>
          <a:xfrm>
            <a:off x="0" y="73080"/>
            <a:ext cx="4266720" cy="36360"/>
          </a:xfrm>
          <a:prstGeom prst="rect">
            <a:avLst/>
          </a:prstGeom>
          <a:solidFill>
            <a:srgbClr val="00E0C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8280" rIns="90000" bIns="-828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Text 2"/>
          <p:cNvSpPr/>
          <p:nvPr/>
        </p:nvSpPr>
        <p:spPr>
          <a:xfrm>
            <a:off x="548640" y="411480"/>
            <a:ext cx="9143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pc="400" strike="noStrike">
                <a:solidFill>
                  <a:srgbClr val="00E0C6"/>
                </a:solidFill>
                <a:effectLst/>
                <a:uFillTx/>
                <a:latin typeface="Calibri"/>
                <a:ea typeface="Calibri"/>
              </a:rPr>
              <a:t>MASKING ENGINE</a:t>
            </a:r>
            <a:endParaRPr lang="en-IN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4" name="Text 3"/>
          <p:cNvSpPr/>
          <p:nvPr/>
        </p:nvSpPr>
        <p:spPr>
          <a:xfrm>
            <a:off x="548640" y="777240"/>
            <a:ext cx="109724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400" b="1" u="none" strike="noStrike">
                <a:solidFill>
                  <a:srgbClr val="E6ECFF"/>
                </a:solidFill>
                <a:effectLst/>
                <a:uFillTx/>
                <a:latin typeface="Calibri"/>
                <a:ea typeface="Calibri"/>
              </a:rPr>
              <a:t>Before &amp; After Examples</a:t>
            </a:r>
            <a:endParaRPr lang="en-IN" sz="3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5" name="Shape 4"/>
          <p:cNvSpPr/>
          <p:nvPr/>
        </p:nvSpPr>
        <p:spPr>
          <a:xfrm>
            <a:off x="548640" y="1627560"/>
            <a:ext cx="1096920" cy="54360"/>
          </a:xfrm>
          <a:prstGeom prst="rect">
            <a:avLst/>
          </a:prstGeom>
          <a:solidFill>
            <a:srgbClr val="3DA9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9720" rIns="90000" bIns="972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Shape 5"/>
          <p:cNvSpPr/>
          <p:nvPr/>
        </p:nvSpPr>
        <p:spPr>
          <a:xfrm>
            <a:off x="1097280" y="2011680"/>
            <a:ext cx="10058040" cy="548280"/>
          </a:xfrm>
          <a:prstGeom prst="roundRect">
            <a:avLst>
              <a:gd name="adj" fmla="val 13333"/>
            </a:avLst>
          </a:prstGeom>
          <a:solidFill>
            <a:srgbClr val="3DA9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Text 6"/>
          <p:cNvSpPr/>
          <p:nvPr/>
        </p:nvSpPr>
        <p:spPr>
          <a:xfrm>
            <a:off x="1371600" y="2011680"/>
            <a:ext cx="45716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Original Value</a:t>
            </a:r>
            <a:endParaRPr lang="en-IN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8" name="Text 7"/>
          <p:cNvSpPr/>
          <p:nvPr/>
        </p:nvSpPr>
        <p:spPr>
          <a:xfrm>
            <a:off x="6309360" y="2011680"/>
            <a:ext cx="45716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Masked Output</a:t>
            </a:r>
            <a:endParaRPr lang="en-IN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9" name="Shape 8"/>
          <p:cNvSpPr/>
          <p:nvPr/>
        </p:nvSpPr>
        <p:spPr>
          <a:xfrm>
            <a:off x="1097280" y="2606040"/>
            <a:ext cx="10058040" cy="639720"/>
          </a:xfrm>
          <a:prstGeom prst="rect">
            <a:avLst/>
          </a:prstGeom>
          <a:solidFill>
            <a:srgbClr val="17223F"/>
          </a:solidFill>
          <a:ln w="6350">
            <a:solidFill>
              <a:srgbClr val="2A35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0" name="Text 9"/>
          <p:cNvSpPr/>
          <p:nvPr/>
        </p:nvSpPr>
        <p:spPr>
          <a:xfrm>
            <a:off x="1371600" y="2606040"/>
            <a:ext cx="45716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E6ECFF"/>
                </a:solidFill>
                <a:effectLst/>
                <a:uFillTx/>
                <a:latin typeface="Consolas"/>
                <a:ea typeface="Consolas"/>
              </a:rPr>
              <a:t>rahul@gmail.com</a:t>
            </a:r>
            <a:endParaRPr lang="en-IN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1" name="Text 10"/>
          <p:cNvSpPr/>
          <p:nvPr/>
        </p:nvSpPr>
        <p:spPr>
          <a:xfrm>
            <a:off x="5897880" y="2606040"/>
            <a:ext cx="4568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00E0C6"/>
                </a:solidFill>
                <a:effectLst/>
                <a:uFillTx/>
                <a:latin typeface="Calibri"/>
              </a:rPr>
              <a:t>→</a:t>
            </a: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2" name="Text 11"/>
          <p:cNvSpPr/>
          <p:nvPr/>
        </p:nvSpPr>
        <p:spPr>
          <a:xfrm>
            <a:off x="6309360" y="2606040"/>
            <a:ext cx="45716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00E0C6"/>
                </a:solidFill>
                <a:effectLst/>
                <a:uFillTx/>
                <a:latin typeface="Consolas"/>
                <a:ea typeface="Consolas"/>
              </a:rPr>
              <a:t>r****@gmail.com</a:t>
            </a:r>
            <a:endParaRPr lang="en-IN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3" name="Shape 12"/>
          <p:cNvSpPr/>
          <p:nvPr/>
        </p:nvSpPr>
        <p:spPr>
          <a:xfrm>
            <a:off x="1097280" y="3246120"/>
            <a:ext cx="10058040" cy="639720"/>
          </a:xfrm>
          <a:prstGeom prst="rect">
            <a:avLst/>
          </a:prstGeom>
          <a:solidFill>
            <a:srgbClr val="111A33"/>
          </a:solidFill>
          <a:ln w="6350">
            <a:solidFill>
              <a:srgbClr val="2A35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4" name="Text 13"/>
          <p:cNvSpPr/>
          <p:nvPr/>
        </p:nvSpPr>
        <p:spPr>
          <a:xfrm>
            <a:off x="1371600" y="3246120"/>
            <a:ext cx="45716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E6ECFF"/>
                </a:solidFill>
                <a:effectLst/>
                <a:uFillTx/>
                <a:latin typeface="Consolas"/>
                <a:ea typeface="Consolas"/>
              </a:rPr>
              <a:t>9876543210</a:t>
            </a:r>
            <a:endParaRPr lang="en-IN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5" name="Text 14"/>
          <p:cNvSpPr/>
          <p:nvPr/>
        </p:nvSpPr>
        <p:spPr>
          <a:xfrm>
            <a:off x="5897880" y="3246120"/>
            <a:ext cx="4568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00E0C6"/>
                </a:solidFill>
                <a:effectLst/>
                <a:uFillTx/>
                <a:latin typeface="Calibri"/>
              </a:rPr>
              <a:t>→</a:t>
            </a: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6" name="Text 15"/>
          <p:cNvSpPr/>
          <p:nvPr/>
        </p:nvSpPr>
        <p:spPr>
          <a:xfrm>
            <a:off x="6309360" y="3246120"/>
            <a:ext cx="45716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00E0C6"/>
                </a:solidFill>
                <a:effectLst/>
                <a:uFillTx/>
                <a:latin typeface="Consolas"/>
                <a:ea typeface="Consolas"/>
              </a:rPr>
              <a:t>98****10</a:t>
            </a:r>
            <a:endParaRPr lang="en-IN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7" name="Shape 16"/>
          <p:cNvSpPr/>
          <p:nvPr/>
        </p:nvSpPr>
        <p:spPr>
          <a:xfrm>
            <a:off x="1097280" y="3886200"/>
            <a:ext cx="10058040" cy="639720"/>
          </a:xfrm>
          <a:prstGeom prst="rect">
            <a:avLst/>
          </a:prstGeom>
          <a:solidFill>
            <a:srgbClr val="17223F"/>
          </a:solidFill>
          <a:ln w="6350">
            <a:solidFill>
              <a:srgbClr val="2A35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8" name="Text 17"/>
          <p:cNvSpPr/>
          <p:nvPr/>
        </p:nvSpPr>
        <p:spPr>
          <a:xfrm>
            <a:off x="1371600" y="3886200"/>
            <a:ext cx="45716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E6ECFF"/>
                </a:solidFill>
                <a:effectLst/>
                <a:uFillTx/>
                <a:latin typeface="Consolas"/>
                <a:ea typeface="Consolas"/>
              </a:rPr>
              <a:t>ABCDE1234F</a:t>
            </a:r>
            <a:endParaRPr lang="en-IN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9" name="Text 18"/>
          <p:cNvSpPr/>
          <p:nvPr/>
        </p:nvSpPr>
        <p:spPr>
          <a:xfrm>
            <a:off x="5897880" y="3886200"/>
            <a:ext cx="4568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00E0C6"/>
                </a:solidFill>
                <a:effectLst/>
                <a:uFillTx/>
                <a:latin typeface="Calibri"/>
              </a:rPr>
              <a:t>→</a:t>
            </a: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0" name="Text 19"/>
          <p:cNvSpPr/>
          <p:nvPr/>
        </p:nvSpPr>
        <p:spPr>
          <a:xfrm>
            <a:off x="6309360" y="3886200"/>
            <a:ext cx="45716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00E0C6"/>
                </a:solidFill>
                <a:effectLst/>
                <a:uFillTx/>
                <a:latin typeface="Consolas"/>
                <a:ea typeface="Consolas"/>
              </a:rPr>
              <a:t>A****F</a:t>
            </a:r>
            <a:endParaRPr lang="en-IN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1" name="Shape 20"/>
          <p:cNvSpPr/>
          <p:nvPr/>
        </p:nvSpPr>
        <p:spPr>
          <a:xfrm>
            <a:off x="1097280" y="4526280"/>
            <a:ext cx="10058040" cy="639720"/>
          </a:xfrm>
          <a:prstGeom prst="rect">
            <a:avLst/>
          </a:prstGeom>
          <a:solidFill>
            <a:srgbClr val="111A33"/>
          </a:solidFill>
          <a:ln w="6350">
            <a:solidFill>
              <a:srgbClr val="2A35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2" name="Text 21"/>
          <p:cNvSpPr/>
          <p:nvPr/>
        </p:nvSpPr>
        <p:spPr>
          <a:xfrm>
            <a:off x="1371600" y="4526280"/>
            <a:ext cx="45716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E6ECFF"/>
                </a:solidFill>
                <a:effectLst/>
                <a:uFillTx/>
                <a:latin typeface="Consolas"/>
                <a:ea typeface="Consolas"/>
              </a:rPr>
              <a:t>1234 5678 9012</a:t>
            </a:r>
            <a:endParaRPr lang="en-IN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3" name="Text 22"/>
          <p:cNvSpPr/>
          <p:nvPr/>
        </p:nvSpPr>
        <p:spPr>
          <a:xfrm>
            <a:off x="5897880" y="4526280"/>
            <a:ext cx="4568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00E0C6"/>
                </a:solidFill>
                <a:effectLst/>
                <a:uFillTx/>
                <a:latin typeface="Calibri"/>
              </a:rPr>
              <a:t>→</a:t>
            </a: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4" name="Text 23"/>
          <p:cNvSpPr/>
          <p:nvPr/>
        </p:nvSpPr>
        <p:spPr>
          <a:xfrm>
            <a:off x="6309360" y="4526280"/>
            <a:ext cx="45716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00E0C6"/>
                </a:solidFill>
                <a:effectLst/>
                <a:uFillTx/>
                <a:latin typeface="Consolas"/>
                <a:ea typeface="Consolas"/>
              </a:rPr>
              <a:t>****  ****  9012</a:t>
            </a:r>
            <a:endParaRPr lang="en-IN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5" name="Text 24"/>
          <p:cNvSpPr/>
          <p:nvPr/>
        </p:nvSpPr>
        <p:spPr>
          <a:xfrm>
            <a:off x="365760" y="649224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9AA7C7"/>
                </a:solidFill>
                <a:effectLst/>
                <a:uFillTx/>
                <a:latin typeface="Calibri"/>
                <a:ea typeface="Calibri"/>
              </a:rPr>
              <a:t>PII Shield AI  •  Hybrid AI Privacy Detection Engine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6" name="Text 25"/>
          <p:cNvSpPr/>
          <p:nvPr/>
        </p:nvSpPr>
        <p:spPr>
          <a:xfrm>
            <a:off x="11094480" y="6492240"/>
            <a:ext cx="731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9AA7C7"/>
                </a:solidFill>
                <a:effectLst/>
                <a:uFillTx/>
                <a:latin typeface="Calibri"/>
                <a:ea typeface="Calibri"/>
              </a:rPr>
              <a:t>7 / 14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Shape 0"/>
          <p:cNvSpPr/>
          <p:nvPr/>
        </p:nvSpPr>
        <p:spPr>
          <a:xfrm>
            <a:off x="0" y="0"/>
            <a:ext cx="12191400" cy="72720"/>
          </a:xfrm>
          <a:prstGeom prst="rect">
            <a:avLst/>
          </a:prstGeom>
          <a:solidFill>
            <a:srgbClr val="3DA9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8080" rIns="90000" bIns="2808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Shape 1"/>
          <p:cNvSpPr/>
          <p:nvPr/>
        </p:nvSpPr>
        <p:spPr>
          <a:xfrm>
            <a:off x="0" y="73080"/>
            <a:ext cx="4266720" cy="36360"/>
          </a:xfrm>
          <a:prstGeom prst="rect">
            <a:avLst/>
          </a:prstGeom>
          <a:solidFill>
            <a:srgbClr val="00E0C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8280" rIns="90000" bIns="-828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Text 2"/>
          <p:cNvSpPr/>
          <p:nvPr/>
        </p:nvSpPr>
        <p:spPr>
          <a:xfrm>
            <a:off x="548640" y="411480"/>
            <a:ext cx="9143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pc="400" strike="noStrike">
                <a:solidFill>
                  <a:srgbClr val="00E0C6"/>
                </a:solidFill>
                <a:effectLst/>
                <a:uFillTx/>
                <a:latin typeface="Calibri"/>
                <a:ea typeface="Calibri"/>
              </a:rPr>
              <a:t>APPLICATION UI</a:t>
            </a:r>
            <a:endParaRPr lang="en-IN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0" name="Text 3"/>
          <p:cNvSpPr/>
          <p:nvPr/>
        </p:nvSpPr>
        <p:spPr>
          <a:xfrm>
            <a:off x="548640" y="777240"/>
            <a:ext cx="109724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400" b="1" u="none" strike="noStrike">
                <a:solidFill>
                  <a:srgbClr val="E6ECFF"/>
                </a:solidFill>
                <a:effectLst/>
                <a:uFillTx/>
                <a:latin typeface="Calibri"/>
                <a:ea typeface="Calibri"/>
              </a:rPr>
              <a:t>Upload &amp; Scan Interface</a:t>
            </a:r>
            <a:endParaRPr lang="en-IN" sz="3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1" name="Shape 4"/>
          <p:cNvSpPr/>
          <p:nvPr/>
        </p:nvSpPr>
        <p:spPr>
          <a:xfrm>
            <a:off x="548640" y="1627560"/>
            <a:ext cx="1096920" cy="54360"/>
          </a:xfrm>
          <a:prstGeom prst="rect">
            <a:avLst/>
          </a:prstGeom>
          <a:solidFill>
            <a:srgbClr val="3DA9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9720" rIns="90000" bIns="972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32" name="Image 0" descr="preencoded.png"/>
          <p:cNvPicPr/>
          <p:nvPr/>
        </p:nvPicPr>
        <p:blipFill>
          <a:blip r:embed="rId1"/>
          <a:stretch/>
        </p:blipFill>
        <p:spPr>
          <a:xfrm>
            <a:off x="548640" y="1874520"/>
            <a:ext cx="7314840" cy="4114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3" name="Shape 5"/>
          <p:cNvSpPr/>
          <p:nvPr/>
        </p:nvSpPr>
        <p:spPr>
          <a:xfrm>
            <a:off x="8138160" y="1874520"/>
            <a:ext cx="3565800" cy="4114440"/>
          </a:xfrm>
          <a:prstGeom prst="roundRect">
            <a:avLst>
              <a:gd name="adj" fmla="val 3077"/>
            </a:avLst>
          </a:prstGeom>
          <a:solidFill>
            <a:srgbClr val="17223F"/>
          </a:solidFill>
          <a:ln w="12700">
            <a:solidFill>
              <a:srgbClr val="2A35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4" name="Text 6"/>
          <p:cNvSpPr/>
          <p:nvPr/>
        </p:nvSpPr>
        <p:spPr>
          <a:xfrm>
            <a:off x="8321040" y="2011680"/>
            <a:ext cx="32914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00E0C6"/>
                </a:solidFill>
                <a:effectLst/>
                <a:uFillTx/>
                <a:latin typeface="Calibri"/>
              </a:rPr>
              <a:t>User Experience</a:t>
            </a:r>
            <a:endParaRPr lang="en-IN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5" name="Text 7"/>
          <p:cNvSpPr/>
          <p:nvPr/>
        </p:nvSpPr>
        <p:spPr>
          <a:xfrm>
            <a:off x="8321040" y="2468880"/>
            <a:ext cx="32914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E6ECFF"/>
                </a:solidFill>
                <a:effectLst/>
                <a:uFillTx/>
                <a:latin typeface="Calibri"/>
              </a:rPr>
              <a:t>• Clean, dark-themed dashboard</a:t>
            </a:r>
            <a:endParaRPr lang="en-IN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6" name="Text 8"/>
          <p:cNvSpPr/>
          <p:nvPr/>
        </p:nvSpPr>
        <p:spPr>
          <a:xfrm>
            <a:off x="8321040" y="2971800"/>
            <a:ext cx="32914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E6ECFF"/>
                </a:solidFill>
                <a:effectLst/>
                <a:uFillTx/>
                <a:latin typeface="Calibri"/>
              </a:rPr>
              <a:t>• One-click dataset selection</a:t>
            </a:r>
            <a:endParaRPr lang="en-IN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7" name="Text 9"/>
          <p:cNvSpPr/>
          <p:nvPr/>
        </p:nvSpPr>
        <p:spPr>
          <a:xfrm>
            <a:off x="8321040" y="3474720"/>
            <a:ext cx="32914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E6ECFF"/>
                </a:solidFill>
                <a:effectLst/>
                <a:uFillTx/>
                <a:latin typeface="Calibri"/>
              </a:rPr>
              <a:t>• Instant scan trigger</a:t>
            </a:r>
            <a:endParaRPr lang="en-IN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8" name="Text 10"/>
          <p:cNvSpPr/>
          <p:nvPr/>
        </p:nvSpPr>
        <p:spPr>
          <a:xfrm>
            <a:off x="8321040" y="3977640"/>
            <a:ext cx="32914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E6ECFF"/>
                </a:solidFill>
                <a:effectLst/>
                <a:uFillTx/>
                <a:latin typeface="Calibri"/>
              </a:rPr>
              <a:t>• Visible detection categories</a:t>
            </a:r>
            <a:endParaRPr lang="en-IN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9" name="Text 11"/>
          <p:cNvSpPr/>
          <p:nvPr/>
        </p:nvSpPr>
        <p:spPr>
          <a:xfrm>
            <a:off x="8321040" y="4480560"/>
            <a:ext cx="32914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E6ECFF"/>
                </a:solidFill>
                <a:effectLst/>
                <a:uFillTx/>
                <a:latin typeface="Calibri"/>
              </a:rPr>
              <a:t>• Modern glassmorphism design</a:t>
            </a:r>
            <a:endParaRPr lang="en-IN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0" name="Text 12"/>
          <p:cNvSpPr/>
          <p:nvPr/>
        </p:nvSpPr>
        <p:spPr>
          <a:xfrm>
            <a:off x="365760" y="649224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9AA7C7"/>
                </a:solidFill>
                <a:effectLst/>
                <a:uFillTx/>
                <a:latin typeface="Calibri"/>
                <a:ea typeface="Calibri"/>
              </a:rPr>
              <a:t>PII Shield AI  •  Hybrid AI Privacy Detection Engine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1" name="Text 13"/>
          <p:cNvSpPr/>
          <p:nvPr/>
        </p:nvSpPr>
        <p:spPr>
          <a:xfrm>
            <a:off x="11094480" y="6492240"/>
            <a:ext cx="731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9AA7C7"/>
                </a:solidFill>
                <a:effectLst/>
                <a:uFillTx/>
                <a:latin typeface="Calibri"/>
                <a:ea typeface="Calibri"/>
              </a:rPr>
              <a:t>8 / 14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Shape 0"/>
          <p:cNvSpPr/>
          <p:nvPr/>
        </p:nvSpPr>
        <p:spPr>
          <a:xfrm>
            <a:off x="0" y="0"/>
            <a:ext cx="12191400" cy="72720"/>
          </a:xfrm>
          <a:prstGeom prst="rect">
            <a:avLst/>
          </a:prstGeom>
          <a:solidFill>
            <a:srgbClr val="3DA9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8080" rIns="90000" bIns="2808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Shape 1"/>
          <p:cNvSpPr/>
          <p:nvPr/>
        </p:nvSpPr>
        <p:spPr>
          <a:xfrm>
            <a:off x="0" y="73080"/>
            <a:ext cx="4266720" cy="36360"/>
          </a:xfrm>
          <a:prstGeom prst="rect">
            <a:avLst/>
          </a:prstGeom>
          <a:solidFill>
            <a:srgbClr val="00E0C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8280" rIns="90000" bIns="-828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Text 2"/>
          <p:cNvSpPr/>
          <p:nvPr/>
        </p:nvSpPr>
        <p:spPr>
          <a:xfrm>
            <a:off x="548640" y="411480"/>
            <a:ext cx="9143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pc="400" strike="noStrike">
                <a:solidFill>
                  <a:srgbClr val="00E0C6"/>
                </a:solidFill>
                <a:effectLst/>
                <a:uFillTx/>
                <a:latin typeface="Calibri"/>
                <a:ea typeface="Calibri"/>
              </a:rPr>
              <a:t>DASHBOARD</a:t>
            </a:r>
            <a:endParaRPr lang="en-IN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5" name="Text 3"/>
          <p:cNvSpPr/>
          <p:nvPr/>
        </p:nvSpPr>
        <p:spPr>
          <a:xfrm>
            <a:off x="548640" y="777240"/>
            <a:ext cx="109724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400" b="1" u="none" strike="noStrike">
                <a:solidFill>
                  <a:srgbClr val="E6ECFF"/>
                </a:solidFill>
                <a:effectLst/>
                <a:uFillTx/>
                <a:latin typeface="Calibri"/>
                <a:ea typeface="Calibri"/>
              </a:rPr>
              <a:t>Scan Analytics &amp; Compliance</a:t>
            </a:r>
            <a:endParaRPr lang="en-IN" sz="3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6" name="Shape 4"/>
          <p:cNvSpPr/>
          <p:nvPr/>
        </p:nvSpPr>
        <p:spPr>
          <a:xfrm>
            <a:off x="548640" y="1627560"/>
            <a:ext cx="1096920" cy="54360"/>
          </a:xfrm>
          <a:prstGeom prst="rect">
            <a:avLst/>
          </a:prstGeom>
          <a:solidFill>
            <a:srgbClr val="3DA9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9720" rIns="90000" bIns="972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47" name="Image 0" descr="preencoded.png"/>
          <p:cNvPicPr/>
          <p:nvPr/>
        </p:nvPicPr>
        <p:blipFill>
          <a:blip r:embed="rId1"/>
          <a:stretch/>
        </p:blipFill>
        <p:spPr>
          <a:xfrm>
            <a:off x="548640" y="1874520"/>
            <a:ext cx="7314840" cy="4114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8" name="Shape 5"/>
          <p:cNvSpPr/>
          <p:nvPr/>
        </p:nvSpPr>
        <p:spPr>
          <a:xfrm>
            <a:off x="8138160" y="1874520"/>
            <a:ext cx="3565800" cy="4114440"/>
          </a:xfrm>
          <a:prstGeom prst="roundRect">
            <a:avLst>
              <a:gd name="adj" fmla="val 3077"/>
            </a:avLst>
          </a:prstGeom>
          <a:solidFill>
            <a:srgbClr val="17223F"/>
          </a:solidFill>
          <a:ln w="12700">
            <a:solidFill>
              <a:srgbClr val="2A35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9" name="Text 6"/>
          <p:cNvSpPr/>
          <p:nvPr/>
        </p:nvSpPr>
        <p:spPr>
          <a:xfrm>
            <a:off x="8321040" y="2011680"/>
            <a:ext cx="32914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00E0C6"/>
                </a:solidFill>
                <a:effectLst/>
                <a:uFillTx/>
                <a:latin typeface="Calibri"/>
              </a:rPr>
              <a:t>Key Metrics</a:t>
            </a:r>
            <a:endParaRPr lang="en-IN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0" name="Text 7"/>
          <p:cNvSpPr/>
          <p:nvPr/>
        </p:nvSpPr>
        <p:spPr>
          <a:xfrm>
            <a:off x="8321040" y="2468880"/>
            <a:ext cx="32914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E6ECFF"/>
                </a:solidFill>
                <a:effectLst/>
                <a:uFillTx/>
                <a:latin typeface="Calibri"/>
              </a:rPr>
              <a:t>• Live PII counts per type</a:t>
            </a:r>
            <a:endParaRPr lang="en-IN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1" name="Text 8"/>
          <p:cNvSpPr/>
          <p:nvPr/>
        </p:nvSpPr>
        <p:spPr>
          <a:xfrm>
            <a:off x="8321040" y="2971800"/>
            <a:ext cx="32914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E6ECFF"/>
                </a:solidFill>
                <a:effectLst/>
                <a:uFillTx/>
                <a:latin typeface="Calibri"/>
              </a:rPr>
              <a:t>• Compliance score (pie)</a:t>
            </a:r>
            <a:endParaRPr lang="en-IN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2" name="Text 9"/>
          <p:cNvSpPr/>
          <p:nvPr/>
        </p:nvSpPr>
        <p:spPr>
          <a:xfrm>
            <a:off x="8321040" y="3474720"/>
            <a:ext cx="32914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E6ECFF"/>
                </a:solidFill>
                <a:effectLst/>
                <a:uFillTx/>
                <a:latin typeface="Calibri"/>
              </a:rPr>
              <a:t>• Real-time updates</a:t>
            </a:r>
            <a:endParaRPr lang="en-IN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3" name="Text 10"/>
          <p:cNvSpPr/>
          <p:nvPr/>
        </p:nvSpPr>
        <p:spPr>
          <a:xfrm>
            <a:off x="8321040" y="3977640"/>
            <a:ext cx="32914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E6ECFF"/>
                </a:solidFill>
                <a:effectLst/>
                <a:uFillTx/>
                <a:latin typeface="Calibri"/>
              </a:rPr>
              <a:t>• Sidebar navigation</a:t>
            </a:r>
            <a:endParaRPr lang="en-IN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4" name="Text 11"/>
          <p:cNvSpPr/>
          <p:nvPr/>
        </p:nvSpPr>
        <p:spPr>
          <a:xfrm>
            <a:off x="8321040" y="4480560"/>
            <a:ext cx="32914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E6ECFF"/>
                </a:solidFill>
                <a:effectLst/>
                <a:uFillTx/>
                <a:latin typeface="Calibri"/>
              </a:rPr>
              <a:t>• Color-coded categories</a:t>
            </a:r>
            <a:endParaRPr lang="en-IN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5" name="Text 12"/>
          <p:cNvSpPr/>
          <p:nvPr/>
        </p:nvSpPr>
        <p:spPr>
          <a:xfrm>
            <a:off x="365760" y="649224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9AA7C7"/>
                </a:solidFill>
                <a:effectLst/>
                <a:uFillTx/>
                <a:latin typeface="Calibri"/>
                <a:ea typeface="Calibri"/>
              </a:rPr>
              <a:t>PII Shield AI  •  Hybrid AI Privacy Detection Engine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6" name="Text 13"/>
          <p:cNvSpPr/>
          <p:nvPr/>
        </p:nvSpPr>
        <p:spPr>
          <a:xfrm>
            <a:off x="11094480" y="6492240"/>
            <a:ext cx="731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9AA7C7"/>
                </a:solidFill>
                <a:effectLst/>
                <a:uFillTx/>
                <a:latin typeface="Calibri"/>
                <a:ea typeface="Calibri"/>
              </a:rPr>
              <a:t>9 / 14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Shape 0"/>
          <p:cNvSpPr/>
          <p:nvPr/>
        </p:nvSpPr>
        <p:spPr>
          <a:xfrm>
            <a:off x="0" y="0"/>
            <a:ext cx="12191400" cy="72720"/>
          </a:xfrm>
          <a:prstGeom prst="rect">
            <a:avLst/>
          </a:prstGeom>
          <a:solidFill>
            <a:srgbClr val="3DA9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8080" rIns="90000" bIns="2808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8" name="Shape 1"/>
          <p:cNvSpPr/>
          <p:nvPr/>
        </p:nvSpPr>
        <p:spPr>
          <a:xfrm>
            <a:off x="0" y="73080"/>
            <a:ext cx="4266720" cy="36360"/>
          </a:xfrm>
          <a:prstGeom prst="rect">
            <a:avLst/>
          </a:prstGeom>
          <a:solidFill>
            <a:srgbClr val="00E0C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8280" rIns="90000" bIns="-828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9" name="Text 2"/>
          <p:cNvSpPr/>
          <p:nvPr/>
        </p:nvSpPr>
        <p:spPr>
          <a:xfrm>
            <a:off x="548640" y="411480"/>
            <a:ext cx="9143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pc="400" strike="noStrike">
                <a:solidFill>
                  <a:srgbClr val="00E0C6"/>
                </a:solidFill>
                <a:effectLst/>
                <a:uFillTx/>
                <a:latin typeface="Calibri"/>
                <a:ea typeface="Calibri"/>
              </a:rPr>
              <a:t>REPORTS</a:t>
            </a:r>
            <a:endParaRPr lang="en-IN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0" name="Text 3"/>
          <p:cNvSpPr/>
          <p:nvPr/>
        </p:nvSpPr>
        <p:spPr>
          <a:xfrm>
            <a:off x="548640" y="777240"/>
            <a:ext cx="109724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400" b="1" u="none" strike="noStrike">
                <a:solidFill>
                  <a:srgbClr val="E6ECFF"/>
                </a:solidFill>
                <a:effectLst/>
                <a:uFillTx/>
                <a:latin typeface="Calibri"/>
                <a:ea typeface="Calibri"/>
              </a:rPr>
              <a:t>Detection History &amp; Download</a:t>
            </a:r>
            <a:endParaRPr lang="en-IN" sz="3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1" name="Shape 4"/>
          <p:cNvSpPr/>
          <p:nvPr/>
        </p:nvSpPr>
        <p:spPr>
          <a:xfrm>
            <a:off x="548640" y="1627560"/>
            <a:ext cx="1096920" cy="54360"/>
          </a:xfrm>
          <a:prstGeom prst="rect">
            <a:avLst/>
          </a:prstGeom>
          <a:solidFill>
            <a:srgbClr val="3DA9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9720" rIns="90000" bIns="972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62" name="Image 0" descr="preencoded.png"/>
          <p:cNvPicPr/>
          <p:nvPr/>
        </p:nvPicPr>
        <p:blipFill>
          <a:blip r:embed="rId1"/>
          <a:stretch/>
        </p:blipFill>
        <p:spPr>
          <a:xfrm>
            <a:off x="548640" y="1874520"/>
            <a:ext cx="7314840" cy="4114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3" name="Shape 5"/>
          <p:cNvSpPr/>
          <p:nvPr/>
        </p:nvSpPr>
        <p:spPr>
          <a:xfrm>
            <a:off x="8138160" y="1874520"/>
            <a:ext cx="3565800" cy="4114440"/>
          </a:xfrm>
          <a:prstGeom prst="roundRect">
            <a:avLst>
              <a:gd name="adj" fmla="val 3077"/>
            </a:avLst>
          </a:prstGeom>
          <a:solidFill>
            <a:srgbClr val="17223F"/>
          </a:solidFill>
          <a:ln w="12700">
            <a:solidFill>
              <a:srgbClr val="2A35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4" name="Text 6"/>
          <p:cNvSpPr/>
          <p:nvPr/>
        </p:nvSpPr>
        <p:spPr>
          <a:xfrm>
            <a:off x="8321040" y="2011680"/>
            <a:ext cx="32914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00E0C6"/>
                </a:solidFill>
                <a:effectLst/>
                <a:uFillTx/>
                <a:latin typeface="Calibri"/>
              </a:rPr>
              <a:t>Report Features</a:t>
            </a:r>
            <a:endParaRPr lang="en-IN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5" name="Text 7"/>
          <p:cNvSpPr/>
          <p:nvPr/>
        </p:nvSpPr>
        <p:spPr>
          <a:xfrm>
            <a:off x="8321040" y="2468880"/>
            <a:ext cx="32914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E6ECFF"/>
                </a:solidFill>
                <a:effectLst/>
                <a:uFillTx/>
                <a:latin typeface="Calibri"/>
              </a:rPr>
              <a:t>• Detection bar charts</a:t>
            </a:r>
            <a:endParaRPr lang="en-IN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6" name="Text 8"/>
          <p:cNvSpPr/>
          <p:nvPr/>
        </p:nvSpPr>
        <p:spPr>
          <a:xfrm>
            <a:off x="8321040" y="2971800"/>
            <a:ext cx="32914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E6ECFF"/>
                </a:solidFill>
                <a:effectLst/>
                <a:uFillTx/>
                <a:latin typeface="Calibri"/>
              </a:rPr>
              <a:t>• Recent scan history table</a:t>
            </a:r>
            <a:endParaRPr lang="en-IN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7" name="Text 9"/>
          <p:cNvSpPr/>
          <p:nvPr/>
        </p:nvSpPr>
        <p:spPr>
          <a:xfrm>
            <a:off x="8321040" y="3474720"/>
            <a:ext cx="32914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E6ECFF"/>
                </a:solidFill>
                <a:effectLst/>
                <a:uFillTx/>
                <a:latin typeface="Calibri"/>
              </a:rPr>
              <a:t>• Per-scan compliance %</a:t>
            </a:r>
            <a:endParaRPr lang="en-IN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8" name="Text 10"/>
          <p:cNvSpPr/>
          <p:nvPr/>
        </p:nvSpPr>
        <p:spPr>
          <a:xfrm>
            <a:off x="8321040" y="3977640"/>
            <a:ext cx="32914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E6ECFF"/>
                </a:solidFill>
                <a:effectLst/>
                <a:uFillTx/>
                <a:latin typeface="Calibri"/>
              </a:rPr>
              <a:t>• One-click masked download</a:t>
            </a:r>
            <a:endParaRPr lang="en-IN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9" name="Text 11"/>
          <p:cNvSpPr/>
          <p:nvPr/>
        </p:nvSpPr>
        <p:spPr>
          <a:xfrm>
            <a:off x="8321040" y="4480560"/>
            <a:ext cx="32914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E6ECFF"/>
                </a:solidFill>
                <a:effectLst/>
                <a:uFillTx/>
                <a:latin typeface="Calibri"/>
              </a:rPr>
              <a:t>• CSV + JSON exports</a:t>
            </a:r>
            <a:endParaRPr lang="en-IN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0" name="Text 12"/>
          <p:cNvSpPr/>
          <p:nvPr/>
        </p:nvSpPr>
        <p:spPr>
          <a:xfrm>
            <a:off x="365760" y="649224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9AA7C7"/>
                </a:solidFill>
                <a:effectLst/>
                <a:uFillTx/>
                <a:latin typeface="Calibri"/>
                <a:ea typeface="Calibri"/>
              </a:rPr>
              <a:t>PII Shield AI  •  Hybrid AI Privacy Detection Engine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1" name="Text 13"/>
          <p:cNvSpPr/>
          <p:nvPr/>
        </p:nvSpPr>
        <p:spPr>
          <a:xfrm>
            <a:off x="11094480" y="6492240"/>
            <a:ext cx="731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9AA7C7"/>
                </a:solidFill>
                <a:effectLst/>
                <a:uFillTx/>
                <a:latin typeface="Calibri"/>
                <a:ea typeface="Calibri"/>
              </a:rPr>
              <a:t>10 / 14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Shape 0"/>
          <p:cNvSpPr/>
          <p:nvPr/>
        </p:nvSpPr>
        <p:spPr>
          <a:xfrm>
            <a:off x="0" y="0"/>
            <a:ext cx="12191400" cy="72720"/>
          </a:xfrm>
          <a:prstGeom prst="rect">
            <a:avLst/>
          </a:prstGeom>
          <a:solidFill>
            <a:srgbClr val="3DA9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8080" rIns="90000" bIns="2808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3" name="Shape 1"/>
          <p:cNvSpPr/>
          <p:nvPr/>
        </p:nvSpPr>
        <p:spPr>
          <a:xfrm>
            <a:off x="0" y="73080"/>
            <a:ext cx="4266720" cy="36360"/>
          </a:xfrm>
          <a:prstGeom prst="rect">
            <a:avLst/>
          </a:prstGeom>
          <a:solidFill>
            <a:srgbClr val="00E0C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8280" rIns="90000" bIns="-828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4" name="Text 2"/>
          <p:cNvSpPr/>
          <p:nvPr/>
        </p:nvSpPr>
        <p:spPr>
          <a:xfrm>
            <a:off x="548640" y="411480"/>
            <a:ext cx="9143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pc="400" strike="noStrike">
                <a:solidFill>
                  <a:srgbClr val="00E0C6"/>
                </a:solidFill>
                <a:effectLst/>
                <a:uFillTx/>
                <a:latin typeface="Calibri"/>
                <a:ea typeface="Calibri"/>
              </a:rPr>
              <a:t>TESTING &amp; VALIDATION</a:t>
            </a:r>
            <a:endParaRPr lang="en-IN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5" name="Text 3"/>
          <p:cNvSpPr/>
          <p:nvPr/>
        </p:nvSpPr>
        <p:spPr>
          <a:xfrm>
            <a:off x="548640" y="777240"/>
            <a:ext cx="109724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400" b="1" u="none" strike="noStrike">
                <a:solidFill>
                  <a:srgbClr val="E6ECFF"/>
                </a:solidFill>
                <a:effectLst/>
                <a:uFillTx/>
                <a:latin typeface="Calibri"/>
                <a:ea typeface="Calibri"/>
              </a:rPr>
              <a:t>Pytest-Driven Reliability</a:t>
            </a:r>
            <a:endParaRPr lang="en-IN" sz="3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6" name="Shape 4"/>
          <p:cNvSpPr/>
          <p:nvPr/>
        </p:nvSpPr>
        <p:spPr>
          <a:xfrm>
            <a:off x="548640" y="1627560"/>
            <a:ext cx="1096920" cy="54360"/>
          </a:xfrm>
          <a:prstGeom prst="rect">
            <a:avLst/>
          </a:prstGeom>
          <a:solidFill>
            <a:srgbClr val="3DA9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9720" rIns="90000" bIns="972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7" name="Shape 5"/>
          <p:cNvSpPr/>
          <p:nvPr/>
        </p:nvSpPr>
        <p:spPr>
          <a:xfrm>
            <a:off x="548640" y="1920240"/>
            <a:ext cx="5486040" cy="2194200"/>
          </a:xfrm>
          <a:prstGeom prst="roundRect">
            <a:avLst>
              <a:gd name="adj" fmla="val 5000"/>
            </a:avLst>
          </a:prstGeom>
          <a:solidFill>
            <a:srgbClr val="17223F"/>
          </a:solidFill>
          <a:ln w="12700">
            <a:solidFill>
              <a:srgbClr val="2A35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8" name="Text 6"/>
          <p:cNvSpPr/>
          <p:nvPr/>
        </p:nvSpPr>
        <p:spPr>
          <a:xfrm>
            <a:off x="731520" y="2011680"/>
            <a:ext cx="51202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9AA7C7"/>
                </a:solidFill>
                <a:effectLst/>
                <a:uFillTx/>
                <a:latin typeface="Calibri"/>
              </a:rPr>
              <a:t>Input CSV</a:t>
            </a:r>
            <a:endParaRPr lang="en-IN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9" name="Text 7"/>
          <p:cNvSpPr/>
          <p:nvPr/>
        </p:nvSpPr>
        <p:spPr>
          <a:xfrm>
            <a:off x="731520" y="2423160"/>
            <a:ext cx="5120280" cy="155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E6ECFF"/>
                </a:solidFill>
                <a:effectLst/>
                <a:uFillTx/>
                <a:latin typeface="Consolas"/>
                <a:ea typeface="Consolas"/>
              </a:rPr>
              <a:t>Name, Email, Phone</a:t>
            </a:r>
            <a:endParaRPr lang="en-IN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E6ECFF"/>
                </a:solidFill>
                <a:effectLst/>
                <a:uFillTx/>
                <a:latin typeface="Consolas"/>
                <a:ea typeface="Consolas"/>
              </a:rPr>
              <a:t>Rahul, rahul@gmail.com, 9876543210</a:t>
            </a:r>
            <a:endParaRPr lang="en-IN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0" name="Shape 8"/>
          <p:cNvSpPr/>
          <p:nvPr/>
        </p:nvSpPr>
        <p:spPr>
          <a:xfrm>
            <a:off x="6217920" y="1920240"/>
            <a:ext cx="5486040" cy="2194200"/>
          </a:xfrm>
          <a:prstGeom prst="roundRect">
            <a:avLst>
              <a:gd name="adj" fmla="val 5000"/>
            </a:avLst>
          </a:prstGeom>
          <a:solidFill>
            <a:srgbClr val="17223F"/>
          </a:solidFill>
          <a:ln w="12700">
            <a:solidFill>
              <a:srgbClr val="00E0C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1" name="Text 9"/>
          <p:cNvSpPr/>
          <p:nvPr/>
        </p:nvSpPr>
        <p:spPr>
          <a:xfrm>
            <a:off x="6400800" y="2011680"/>
            <a:ext cx="51202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0E0C6"/>
                </a:solidFill>
                <a:effectLst/>
                <a:uFillTx/>
                <a:latin typeface="Calibri"/>
              </a:rPr>
              <a:t>Masked Output CSV</a:t>
            </a:r>
            <a:endParaRPr lang="en-IN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2" name="Text 10"/>
          <p:cNvSpPr/>
          <p:nvPr/>
        </p:nvSpPr>
        <p:spPr>
          <a:xfrm>
            <a:off x="6400800" y="2423160"/>
            <a:ext cx="5120280" cy="155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00E0C6"/>
                </a:solidFill>
                <a:effectLst/>
                <a:uFillTx/>
                <a:latin typeface="Consolas"/>
                <a:ea typeface="Consolas"/>
              </a:rPr>
              <a:t>Name, Email, Phone</a:t>
            </a:r>
            <a:endParaRPr lang="en-IN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00E0C6"/>
                </a:solidFill>
                <a:effectLst/>
                <a:uFillTx/>
                <a:latin typeface="Consolas"/>
                <a:ea typeface="Consolas"/>
              </a:rPr>
              <a:t>Rahul, r****@gmail.com, 98****10</a:t>
            </a:r>
            <a:endParaRPr lang="en-IN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83" name="Image 0" descr="preencoded.png"/>
          <p:cNvPicPr/>
          <p:nvPr/>
        </p:nvPicPr>
        <p:blipFill>
          <a:blip r:embed="rId1"/>
          <a:stretch/>
        </p:blipFill>
        <p:spPr>
          <a:xfrm>
            <a:off x="548640" y="4297680"/>
            <a:ext cx="6857640" cy="1828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4" name="Shape 11"/>
          <p:cNvSpPr/>
          <p:nvPr/>
        </p:nvSpPr>
        <p:spPr>
          <a:xfrm>
            <a:off x="7589520" y="4297680"/>
            <a:ext cx="4114440" cy="1828440"/>
          </a:xfrm>
          <a:prstGeom prst="roundRect">
            <a:avLst>
              <a:gd name="adj" fmla="val 6000"/>
            </a:avLst>
          </a:prstGeom>
          <a:solidFill>
            <a:srgbClr val="17223F"/>
          </a:solidFill>
          <a:ln w="12700">
            <a:solidFill>
              <a:srgbClr val="2A35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5" name="Text 12"/>
          <p:cNvSpPr/>
          <p:nvPr/>
        </p:nvSpPr>
        <p:spPr>
          <a:xfrm>
            <a:off x="7772400" y="4389120"/>
            <a:ext cx="38401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0E0C6"/>
                </a:solidFill>
                <a:effectLst/>
                <a:uFillTx/>
                <a:latin typeface="Calibri"/>
              </a:rPr>
              <a:t>Validation Coverage</a:t>
            </a:r>
            <a:endParaRPr lang="en-IN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6" name="Text 13"/>
          <p:cNvSpPr/>
          <p:nvPr/>
        </p:nvSpPr>
        <p:spPr>
          <a:xfrm>
            <a:off x="7772400" y="4754880"/>
            <a:ext cx="38401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E6ECFF"/>
                </a:solidFill>
                <a:effectLst/>
                <a:uFillTx/>
                <a:latin typeface="Calibri"/>
              </a:rPr>
              <a:t>✓ Email detection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7" name="Text 14"/>
          <p:cNvSpPr/>
          <p:nvPr/>
        </p:nvSpPr>
        <p:spPr>
          <a:xfrm>
            <a:off x="7772400" y="4974480"/>
            <a:ext cx="38401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E6ECFF"/>
                </a:solidFill>
                <a:effectLst/>
                <a:uFillTx/>
                <a:latin typeface="Calibri"/>
              </a:rPr>
              <a:t>✓ Phone masking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8" name="Text 15"/>
          <p:cNvSpPr/>
          <p:nvPr/>
        </p:nvSpPr>
        <p:spPr>
          <a:xfrm>
            <a:off x="7772400" y="5193720"/>
            <a:ext cx="38401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E6ECFF"/>
                </a:solidFill>
                <a:effectLst/>
                <a:uFillTx/>
                <a:latin typeface="Calibri"/>
              </a:rPr>
              <a:t>✓ PAN identification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9" name="Text 16"/>
          <p:cNvSpPr/>
          <p:nvPr/>
        </p:nvSpPr>
        <p:spPr>
          <a:xfrm>
            <a:off x="7772400" y="5413320"/>
            <a:ext cx="38401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E6ECFF"/>
                </a:solidFill>
                <a:effectLst/>
                <a:uFillTx/>
                <a:latin typeface="Calibri"/>
              </a:rPr>
              <a:t>✓ Aadhaar accuracy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0" name="Text 17"/>
          <p:cNvSpPr/>
          <p:nvPr/>
        </p:nvSpPr>
        <p:spPr>
          <a:xfrm>
            <a:off x="7772400" y="5632560"/>
            <a:ext cx="38401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E6ECFF"/>
                </a:solidFill>
                <a:effectLst/>
                <a:uFillTx/>
                <a:latin typeface="Calibri"/>
              </a:rPr>
              <a:t>✓ Masked file generation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1" name="Text 18"/>
          <p:cNvSpPr/>
          <p:nvPr/>
        </p:nvSpPr>
        <p:spPr>
          <a:xfrm>
            <a:off x="7772400" y="5852160"/>
            <a:ext cx="38401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E6ECFF"/>
                </a:solidFill>
                <a:effectLst/>
                <a:uFillTx/>
                <a:latin typeface="Calibri"/>
              </a:rPr>
              <a:t>✓ Report integrity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2" name="Text 19"/>
          <p:cNvSpPr/>
          <p:nvPr/>
        </p:nvSpPr>
        <p:spPr>
          <a:xfrm>
            <a:off x="365760" y="649224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9AA7C7"/>
                </a:solidFill>
                <a:effectLst/>
                <a:uFillTx/>
                <a:latin typeface="Calibri"/>
                <a:ea typeface="Calibri"/>
              </a:rPr>
              <a:t>PII Shield AI  •  Hybrid AI Privacy Detection Engine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3" name="Text 20"/>
          <p:cNvSpPr/>
          <p:nvPr/>
        </p:nvSpPr>
        <p:spPr>
          <a:xfrm>
            <a:off x="11094480" y="6492240"/>
            <a:ext cx="731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9AA7C7"/>
                </a:solidFill>
                <a:effectLst/>
                <a:uFillTx/>
                <a:latin typeface="Calibri"/>
                <a:ea typeface="Calibri"/>
              </a:rPr>
              <a:t>11 / 14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Shape 0"/>
          <p:cNvSpPr/>
          <p:nvPr/>
        </p:nvSpPr>
        <p:spPr>
          <a:xfrm>
            <a:off x="0" y="0"/>
            <a:ext cx="12191400" cy="72720"/>
          </a:xfrm>
          <a:prstGeom prst="rect">
            <a:avLst/>
          </a:prstGeom>
          <a:solidFill>
            <a:srgbClr val="3DA9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8080" rIns="90000" bIns="2808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5" name="Shape 1"/>
          <p:cNvSpPr/>
          <p:nvPr/>
        </p:nvSpPr>
        <p:spPr>
          <a:xfrm>
            <a:off x="0" y="73080"/>
            <a:ext cx="4266720" cy="36360"/>
          </a:xfrm>
          <a:prstGeom prst="rect">
            <a:avLst/>
          </a:prstGeom>
          <a:solidFill>
            <a:srgbClr val="00E0C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8280" rIns="90000" bIns="-828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6" name="Text 2"/>
          <p:cNvSpPr/>
          <p:nvPr/>
        </p:nvSpPr>
        <p:spPr>
          <a:xfrm>
            <a:off x="548640" y="411480"/>
            <a:ext cx="9143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pc="400" strike="noStrike">
                <a:solidFill>
                  <a:srgbClr val="00E0C6"/>
                </a:solidFill>
                <a:effectLst/>
                <a:uFillTx/>
                <a:latin typeface="Calibri"/>
                <a:ea typeface="Calibri"/>
              </a:rPr>
              <a:t>DELIVERABLES</a:t>
            </a:r>
            <a:endParaRPr lang="en-IN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7" name="Text 3"/>
          <p:cNvSpPr/>
          <p:nvPr/>
        </p:nvSpPr>
        <p:spPr>
          <a:xfrm>
            <a:off x="548640" y="777240"/>
            <a:ext cx="109724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400" b="1" u="none" strike="noStrike">
                <a:solidFill>
                  <a:srgbClr val="E6ECFF"/>
                </a:solidFill>
                <a:effectLst/>
                <a:uFillTx/>
                <a:latin typeface="Calibri"/>
                <a:ea typeface="Calibri"/>
              </a:rPr>
              <a:t>Documentation &amp; Demo Assets</a:t>
            </a:r>
            <a:endParaRPr lang="en-IN" sz="3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8" name="Shape 4"/>
          <p:cNvSpPr/>
          <p:nvPr/>
        </p:nvSpPr>
        <p:spPr>
          <a:xfrm>
            <a:off x="548640" y="1627560"/>
            <a:ext cx="1096920" cy="54360"/>
          </a:xfrm>
          <a:prstGeom prst="rect">
            <a:avLst/>
          </a:prstGeom>
          <a:solidFill>
            <a:srgbClr val="3DA9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9720" rIns="90000" bIns="972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9" name="Shape 5"/>
          <p:cNvSpPr/>
          <p:nvPr/>
        </p:nvSpPr>
        <p:spPr>
          <a:xfrm>
            <a:off x="548640" y="1920240"/>
            <a:ext cx="5486040" cy="4114440"/>
          </a:xfrm>
          <a:prstGeom prst="roundRect">
            <a:avLst>
              <a:gd name="adj" fmla="val 2667"/>
            </a:avLst>
          </a:prstGeom>
          <a:solidFill>
            <a:srgbClr val="17223F"/>
          </a:solidFill>
          <a:ln w="12700">
            <a:solidFill>
              <a:srgbClr val="2A35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0" name="Text 6"/>
          <p:cNvSpPr/>
          <p:nvPr/>
        </p:nvSpPr>
        <p:spPr>
          <a:xfrm>
            <a:off x="731520" y="2057400"/>
            <a:ext cx="51202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3DA9FC"/>
                </a:solidFill>
                <a:effectLst/>
                <a:uFillTx/>
                <a:latin typeface="Calibri"/>
              </a:rPr>
              <a:t>📚  Documentation Prepared</a:t>
            </a: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1" name="Text 7"/>
          <p:cNvSpPr/>
          <p:nvPr/>
        </p:nvSpPr>
        <p:spPr>
          <a:xfrm>
            <a:off x="822960" y="2606040"/>
            <a:ext cx="51202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E6ECFF"/>
                </a:solidFill>
                <a:effectLst/>
                <a:uFillTx/>
                <a:latin typeface="Calibri"/>
              </a:rPr>
              <a:t>●  README.md — setup &amp; usage guide</a:t>
            </a:r>
            <a:endParaRPr lang="en-IN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2" name="Text 8"/>
          <p:cNvSpPr/>
          <p:nvPr/>
        </p:nvSpPr>
        <p:spPr>
          <a:xfrm>
            <a:off x="822960" y="3200400"/>
            <a:ext cx="51202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E6ECFF"/>
                </a:solidFill>
                <a:effectLst/>
                <a:uFillTx/>
                <a:latin typeface="Calibri"/>
              </a:rPr>
              <a:t>●  AI Usage Note — model &amp; approach</a:t>
            </a:r>
            <a:endParaRPr lang="en-IN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3" name="Text 9"/>
          <p:cNvSpPr/>
          <p:nvPr/>
        </p:nvSpPr>
        <p:spPr>
          <a:xfrm>
            <a:off x="822960" y="3794760"/>
            <a:ext cx="51202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E6ECFF"/>
                </a:solidFill>
                <a:effectLst/>
                <a:uFillTx/>
                <a:latin typeface="Calibri"/>
              </a:rPr>
              <a:t>●  Project Report — detailed write-up</a:t>
            </a:r>
            <a:endParaRPr lang="en-IN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4" name="Text 10"/>
          <p:cNvSpPr/>
          <p:nvPr/>
        </p:nvSpPr>
        <p:spPr>
          <a:xfrm>
            <a:off x="822960" y="4389120"/>
            <a:ext cx="51202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E6ECFF"/>
                </a:solidFill>
                <a:effectLst/>
                <a:uFillTx/>
                <a:latin typeface="Calibri"/>
              </a:rPr>
              <a:t>●  Test Results — pytest outputs</a:t>
            </a:r>
            <a:endParaRPr lang="en-IN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5" name="Text 11"/>
          <p:cNvSpPr/>
          <p:nvPr/>
        </p:nvSpPr>
        <p:spPr>
          <a:xfrm>
            <a:off x="822960" y="4983480"/>
            <a:ext cx="51202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E6ECFF"/>
                </a:solidFill>
                <a:effectLst/>
                <a:uFillTx/>
                <a:latin typeface="Calibri"/>
              </a:rPr>
              <a:t>●  Architecture Diagrams</a:t>
            </a:r>
            <a:endParaRPr lang="en-IN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6" name="Shape 12"/>
          <p:cNvSpPr/>
          <p:nvPr/>
        </p:nvSpPr>
        <p:spPr>
          <a:xfrm>
            <a:off x="6217920" y="1920240"/>
            <a:ext cx="5486040" cy="4114440"/>
          </a:xfrm>
          <a:prstGeom prst="roundRect">
            <a:avLst>
              <a:gd name="adj" fmla="val 2667"/>
            </a:avLst>
          </a:prstGeom>
          <a:solidFill>
            <a:srgbClr val="17223F"/>
          </a:solidFill>
          <a:ln w="12700">
            <a:solidFill>
              <a:srgbClr val="2A35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7" name="Text 13"/>
          <p:cNvSpPr/>
          <p:nvPr/>
        </p:nvSpPr>
        <p:spPr>
          <a:xfrm>
            <a:off x="6400800" y="2057400"/>
            <a:ext cx="51202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00E0C6"/>
                </a:solidFill>
                <a:effectLst/>
                <a:uFillTx/>
                <a:latin typeface="Calibri"/>
              </a:rPr>
              <a:t>📦  Project Deliverables</a:t>
            </a: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8" name="Text 14"/>
          <p:cNvSpPr/>
          <p:nvPr/>
        </p:nvSpPr>
        <p:spPr>
          <a:xfrm>
            <a:off x="6492240" y="2606040"/>
            <a:ext cx="51202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E6ECFF"/>
                </a:solidFill>
                <a:effectLst/>
                <a:uFillTx/>
                <a:latin typeface="Calibri"/>
              </a:rPr>
              <a:t>✅  Source Code (Python + Flask)</a:t>
            </a:r>
            <a:endParaRPr lang="en-IN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9" name="Text 15"/>
          <p:cNvSpPr/>
          <p:nvPr/>
        </p:nvSpPr>
        <p:spPr>
          <a:xfrm>
            <a:off x="6492240" y="3108960"/>
            <a:ext cx="51202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E6ECFF"/>
                </a:solidFill>
                <a:effectLst/>
                <a:uFillTx/>
                <a:latin typeface="Calibri"/>
              </a:rPr>
              <a:t>✅  Documentation Bundle</a:t>
            </a:r>
            <a:endParaRPr lang="en-IN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0" name="Text 16"/>
          <p:cNvSpPr/>
          <p:nvPr/>
        </p:nvSpPr>
        <p:spPr>
          <a:xfrm>
            <a:off x="6492240" y="3611880"/>
            <a:ext cx="51202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E6ECFF"/>
                </a:solidFill>
                <a:effectLst/>
                <a:uFillTx/>
                <a:latin typeface="Calibri"/>
              </a:rPr>
              <a:t>✅  Pytest Test Cases</a:t>
            </a:r>
            <a:endParaRPr lang="en-IN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1" name="Text 17"/>
          <p:cNvSpPr/>
          <p:nvPr/>
        </p:nvSpPr>
        <p:spPr>
          <a:xfrm>
            <a:off x="6492240" y="4114800"/>
            <a:ext cx="51202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E6ECFF"/>
                </a:solidFill>
                <a:effectLst/>
                <a:uFillTx/>
                <a:latin typeface="Calibri"/>
              </a:rPr>
              <a:t>✅  Sample CSV Datasets</a:t>
            </a:r>
            <a:endParaRPr lang="en-IN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2" name="Text 18"/>
          <p:cNvSpPr/>
          <p:nvPr/>
        </p:nvSpPr>
        <p:spPr>
          <a:xfrm>
            <a:off x="6492240" y="4617720"/>
            <a:ext cx="51202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E6ECFF"/>
                </a:solidFill>
                <a:effectLst/>
                <a:uFillTx/>
                <a:latin typeface="Calibri"/>
              </a:rPr>
              <a:t>✅  Demo Video Walkthrough</a:t>
            </a:r>
            <a:endParaRPr lang="en-IN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3" name="Text 19"/>
          <p:cNvSpPr/>
          <p:nvPr/>
        </p:nvSpPr>
        <p:spPr>
          <a:xfrm>
            <a:off x="6492240" y="5120640"/>
            <a:ext cx="51202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E6ECFF"/>
                </a:solidFill>
                <a:effectLst/>
                <a:uFillTx/>
                <a:latin typeface="Calibri"/>
              </a:rPr>
              <a:t>✅  Public GitHub Repository</a:t>
            </a:r>
            <a:endParaRPr lang="en-IN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4" name="Text 20"/>
          <p:cNvSpPr/>
          <p:nvPr/>
        </p:nvSpPr>
        <p:spPr>
          <a:xfrm>
            <a:off x="365760" y="649224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9AA7C7"/>
                </a:solidFill>
                <a:effectLst/>
                <a:uFillTx/>
                <a:latin typeface="Calibri"/>
                <a:ea typeface="Calibri"/>
              </a:rPr>
              <a:t>PII Shield AI  •  Hybrid AI Privacy Detection Engine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5" name="Text 21"/>
          <p:cNvSpPr/>
          <p:nvPr/>
        </p:nvSpPr>
        <p:spPr>
          <a:xfrm>
            <a:off x="11094480" y="6492240"/>
            <a:ext cx="731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9AA7C7"/>
                </a:solidFill>
                <a:effectLst/>
                <a:uFillTx/>
                <a:latin typeface="Calibri"/>
                <a:ea typeface="Calibri"/>
              </a:rPr>
              <a:t>12 / 14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Shape 0"/>
          <p:cNvSpPr/>
          <p:nvPr/>
        </p:nvSpPr>
        <p:spPr>
          <a:xfrm>
            <a:off x="-2743200" y="-1828800"/>
            <a:ext cx="8229240" cy="8229240"/>
          </a:xfrm>
          <a:prstGeom prst="ellipse">
            <a:avLst/>
          </a:prstGeom>
          <a:solidFill>
            <a:srgbClr val="1E3A8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7" name="Shape 1"/>
          <p:cNvSpPr/>
          <p:nvPr/>
        </p:nvSpPr>
        <p:spPr>
          <a:xfrm>
            <a:off x="8534160" y="4114800"/>
            <a:ext cx="7314840" cy="7314840"/>
          </a:xfrm>
          <a:prstGeom prst="ellipse">
            <a:avLst/>
          </a:prstGeom>
          <a:solidFill>
            <a:srgbClr val="0EA5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8" name="Text 2"/>
          <p:cNvSpPr/>
          <p:nvPr/>
        </p:nvSpPr>
        <p:spPr>
          <a:xfrm>
            <a:off x="5455800" y="1097280"/>
            <a:ext cx="1279800" cy="12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0" b="0" u="none" strike="noStrike">
                <a:solidFill>
                  <a:srgbClr val="3DA9FC"/>
                </a:solidFill>
                <a:effectLst/>
                <a:uFillTx/>
                <a:latin typeface="Calibri"/>
              </a:rPr>
              <a:t>🛡</a:t>
            </a:r>
            <a:endParaRPr lang="en-IN" sz="9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9" name="Text 3"/>
          <p:cNvSpPr/>
          <p:nvPr/>
        </p:nvSpPr>
        <p:spPr>
          <a:xfrm>
            <a:off x="0" y="2560320"/>
            <a:ext cx="1219140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200" b="1" u="none" spc="1001" strike="noStrike">
                <a:solidFill>
                  <a:srgbClr val="E6ECFF"/>
                </a:solidFill>
                <a:effectLst/>
                <a:uFillTx/>
                <a:latin typeface="Calibri"/>
                <a:ea typeface="Calibri"/>
              </a:rPr>
              <a:t>THANK YOU</a:t>
            </a:r>
            <a:endParaRPr lang="en-IN" sz="7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0" name="Text 4"/>
          <p:cNvSpPr/>
          <p:nvPr/>
        </p:nvSpPr>
        <p:spPr>
          <a:xfrm>
            <a:off x="0" y="3520440"/>
            <a:ext cx="121914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0" i="1" u="none" strike="noStrike">
                <a:solidFill>
                  <a:srgbClr val="00E0C6"/>
                </a:solidFill>
                <a:effectLst/>
                <a:uFillTx/>
                <a:latin typeface="Calibri"/>
              </a:rPr>
              <a:t>Questions, Feedback &amp; Demo Welcome</a:t>
            </a:r>
            <a:endParaRPr lang="en-IN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1" name="Shape 5"/>
          <p:cNvSpPr/>
          <p:nvPr/>
        </p:nvSpPr>
        <p:spPr>
          <a:xfrm>
            <a:off x="2895480" y="4572000"/>
            <a:ext cx="6400440" cy="1279800"/>
          </a:xfrm>
          <a:prstGeom prst="roundRect">
            <a:avLst>
              <a:gd name="adj" fmla="val 8571"/>
            </a:avLst>
          </a:prstGeom>
          <a:solidFill>
            <a:srgbClr val="17223F"/>
          </a:solidFill>
          <a:ln w="12700">
            <a:solidFill>
              <a:srgbClr val="2A35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2" name="Text 6"/>
          <p:cNvSpPr/>
          <p:nvPr/>
        </p:nvSpPr>
        <p:spPr>
          <a:xfrm>
            <a:off x="2895480" y="4663440"/>
            <a:ext cx="64004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E6ECFF"/>
                </a:solidFill>
                <a:effectLst/>
                <a:uFillTx/>
                <a:latin typeface="Calibri"/>
              </a:rPr>
              <a:t>Team PII Detector &amp; Masker</a:t>
            </a:r>
            <a:endParaRPr lang="en-IN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3" name="Text 7"/>
          <p:cNvSpPr/>
          <p:nvPr/>
        </p:nvSpPr>
        <p:spPr>
          <a:xfrm>
            <a:off x="2895480" y="5120640"/>
            <a:ext cx="64004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9AA7C7"/>
                </a:solidFill>
                <a:effectLst/>
                <a:uFillTx/>
                <a:latin typeface="Calibri"/>
              </a:rPr>
              <a:t>GitHub  •  Demo Video  •  Documentation Available</a:t>
            </a:r>
            <a:endParaRPr lang="en-IN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</TotalTime>
  <Application>LibreOffice/26.2.3.2$Windows_X86_64 LibreOffice_project/70e089b17412e4cb7773e41413306b17a2328c34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2026-06-18T14:53:44Z</dcterms:created>
  <dc:creator>PptxGenJS</dc:creator>
  <dc:description/>
  <dc:language>en-IN</dc:language>
  <cp:lastModifiedBy/>
  <dcterms:modified xsi:type="dcterms:W3CDTF">2026-06-18T20:40:03Z</dcterms:modified>
  <cp:revision>2</cp:revision>
  <dc:subject>PptxGenJS Presentation</dc:subject>
  <dc:title>PptxGenJS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14</vt:i4>
  </property>
  <property fmtid="{D5CDD505-2E9C-101B-9397-08002B2CF9AE}" pid="3" name="PresentationFormat">
    <vt:lpwstr>On-screen Show (16:9)</vt:lpwstr>
  </property>
  <property fmtid="{D5CDD505-2E9C-101B-9397-08002B2CF9AE}" pid="4" name="Slides">
    <vt:i4>14</vt:i4>
  </property>
</Properties>
</file>